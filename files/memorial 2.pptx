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81" r:id="rId3"/>
    <p:sldId id="282" r:id="rId4"/>
    <p:sldId id="260" r:id="rId5"/>
    <p:sldId id="257" r:id="rId6"/>
    <p:sldId id="271" r:id="rId7"/>
    <p:sldId id="279" r:id="rId8"/>
    <p:sldId id="280" r:id="rId9"/>
    <p:sldId id="258" r:id="rId10"/>
    <p:sldId id="259" r:id="rId11"/>
    <p:sldId id="273" r:id="rId12"/>
    <p:sldId id="274" r:id="rId13"/>
    <p:sldId id="277" r:id="rId14"/>
    <p:sldId id="270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50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392672-65FF-416B-A615-82C8E45F506B}" v="328" dt="2025-04-03T04:05:54.485"/>
    <p1510:client id="{A31FAC22-C7F9-DE58-3E5F-839C767022A3}" v="224" dt="2025-04-03T09:21:22.0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78E9C-6B79-4E2F-97E0-A735B9BD9701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C9A1A-33D1-4E5F-8F4E-FDC290916B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6310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C9A1A-33D1-4E5F-8F4E-FDC290916BE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4740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C9A1A-33D1-4E5F-8F4E-FDC290916BE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023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159B7-5D06-6034-9030-85B677C65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BE3F1F-EA15-666A-77A2-09362686D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0C2E15-EDA5-5567-0B05-36E02423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4B26-A9C7-4258-AE85-6706C06F1E12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D18641-85A4-C87E-350D-8E8B99DD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EC77F3-C3A9-3327-EA6B-66FB8C80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04512-00C0-43FF-9F2F-0037846497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8366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25CBBF-BA12-A92E-C1A0-1447BAE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1D45D0-D386-1768-17DC-D31E90AC3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A258CC-291E-1FF8-A13D-F40DF522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4B26-A9C7-4258-AE85-6706C06F1E12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3AD6C5-FD9B-50F3-FA76-DDAB2728D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052110-84B6-D390-731B-B1128499A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04512-00C0-43FF-9F2F-0037846497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3961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94382-82EF-139F-7CAF-C04E45855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34D1F4-E6DE-277C-4C53-4F78BF018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EAB754-A66E-2CFC-CBF0-BCC7B5B27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4B26-A9C7-4258-AE85-6706C06F1E12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50550A-9504-C13F-135D-5FEFC70B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63DDFE-6422-3217-0E95-EDF14F33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04512-00C0-43FF-9F2F-0037846497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165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3D49E-DE80-B79A-8696-A01CE93CB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2D7DC4-0887-B010-B2B3-05C577797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C0C4DA-50F2-971F-D074-BC6E34136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FEF308-DDB3-1A15-E1B3-90AC0E17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4B26-A9C7-4258-AE85-6706C06F1E12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7B0601-5EEF-7981-EC9F-F7210BD0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FF42B2-1195-7B82-D33A-D0C0018A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04512-00C0-43FF-9F2F-0037846497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8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A70C4-B1EB-7B9A-6122-7A9ED420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0F2164-5469-FE21-BDDD-B70ECE293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1DBBCF-DED9-6C13-1E87-C847B4E6D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EFE8899-0041-E3D3-B933-32700AE25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E33EAE5-557E-44C6-610C-8C7D86B6F9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0967569-8B62-A3F1-5ADB-91162D9BF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4B26-A9C7-4258-AE85-6706C06F1E12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40A5C56-6DB9-3490-F323-B31092BC0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9B09595-C01F-1116-EEA5-EB3F1BB67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04512-00C0-43FF-9F2F-0037846497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5316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078CC-A784-FE49-02FF-671B670A2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EA6F125-D4A5-D115-C4E6-70E099F3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4B26-A9C7-4258-AE85-6706C06F1E12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F12750C-2B6C-2652-0B60-82E8593D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A81650B-FE97-B0FD-B017-846E4C670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04512-00C0-43FF-9F2F-0037846497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073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D85EB2B-287E-C98F-30F2-C716E9E67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4B26-A9C7-4258-AE85-6706C06F1E12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424C7ED-8957-AD54-2720-12493C27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7CD613-194E-9795-C3EA-4E88FAEA7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04512-00C0-43FF-9F2F-0037846497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0011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8375B-8BAA-BAE8-3FC0-70CBCFE1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0345C3-6D06-5894-7594-258BA0DCA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D43D8B-DFB5-AECB-F230-6C51BE2C6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449AB7-D032-A49F-EF64-6EE8589F9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4B26-A9C7-4258-AE85-6706C06F1E12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D8CC57-85BD-D4C4-9728-9E97BF5B1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64EC6E-9473-992D-BDC3-7AD73B6F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04512-00C0-43FF-9F2F-0037846497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08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1AAC8-7C72-8621-0070-3DFCBDB8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C058BD7-00AE-0C7B-842B-9FD3213F6C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6142EF1-BFE7-3389-0DF0-DE2025F29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99FB8F-E8DB-1D20-FAC5-EA56AF516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4B26-A9C7-4258-AE85-6706C06F1E12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23ADFD0-F27A-2D64-E940-8A83D473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BE0478-6E35-7C96-2AC1-235C4D8D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04512-00C0-43FF-9F2F-0037846497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195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12776-9898-B7FB-6D30-849A74ABC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3D5268-872A-4C3D-FC7D-AAD60C59D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7B2529-59B3-75B5-58E5-09C41ADD0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4B26-A9C7-4258-AE85-6706C06F1E12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6E9E50-D857-7CD8-2A67-F5C4A1588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5B69BE-66AF-1D9A-3784-F4F5ACF1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04512-00C0-43FF-9F2F-0037846497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3552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B748E48-58A4-66DB-9911-F3BA8EB47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57DCF66-770B-44A4-89D1-6613EAEA2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7C3007-6936-72DB-2331-31EC991A3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4B26-A9C7-4258-AE85-6706C06F1E12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10C299-C3D1-736B-0072-58D98B18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A6071C-A084-A198-7688-BB93E668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04512-00C0-43FF-9F2F-0037846497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886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4C8FE-857F-4823-46D8-7AE11EC7F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55FE8A-3153-EBF1-AF10-DD7767ADC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0D98EF-2375-0EEF-2855-35E680C5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3A-9A10-4A47-9068-68C147C89D90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56A436-B30F-3644-B318-6C082A5D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BAB2CA-982F-A475-7018-AEDD8857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026E-91C5-9C4B-992C-85238B1DE4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865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56CDA2-E757-65FA-84FE-EFAAAD45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0B5C56-46C3-AE03-AB2B-ADA2E149D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854BE5-33DD-F46D-B886-07DE30E64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3A-9A10-4A47-9068-68C147C89D90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994D13-5775-2179-F995-C76C353C4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C7387A-8E93-FC8F-77E8-C0D59CCC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026E-91C5-9C4B-992C-85238B1DE4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9323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8AA75D-AB43-9D21-991E-5B24938A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8566C9-1EA3-CC11-A7F0-E1D9C917E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CE5EDE-EDDA-573E-31F3-28FBCCD6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3A-9A10-4A47-9068-68C147C89D90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4C7942-A24A-2F02-AB69-B7591E32B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B301FA-9643-DCE1-3395-277E6D23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026E-91C5-9C4B-992C-85238B1DE4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3320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5B61BA-DD53-742B-BF4F-55EE994E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C82D4F-64B6-EC35-9B91-343F3EB6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17F3DB7-0940-305F-349A-0CDDD4F0E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091554-FCDB-B952-83FA-57B3BF11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3A-9A10-4A47-9068-68C147C89D90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5F3993-7364-D533-D43F-63AA82395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2E3829-367A-B117-37FC-8A3F11C1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026E-91C5-9C4B-992C-85238B1DE4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9255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62B99-B248-DC20-DB34-3ACBE9E31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AF81A6-1C51-8B2C-1CDA-3DDE68A7B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5F036F-04A6-3108-97EF-FEF28B3B4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D0A0595-CD83-0F56-9B7B-6229CC581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59AFAC-C728-7AF4-E850-A3DBC9C37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7AB3709-F7FC-D734-42F2-C8968BECD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3A-9A10-4A47-9068-68C147C89D90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1AB3C44-5C07-14EF-553D-1458BDD1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A15BCF4-D3E7-DB94-E8C0-0D7BCD9F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026E-91C5-9C4B-992C-85238B1DE4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2736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5520B-EF7A-34AF-A723-B9B0057CA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D206CBF-0378-113A-B1DA-F9491B704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3A-9A10-4A47-9068-68C147C89D90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FBF7967-ACBC-9013-68DA-532E7C0B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9F4CA48-19B8-9932-DEC8-25CEA2B9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026E-91C5-9C4B-992C-85238B1DE4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356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463F73-E9F1-A608-42EB-E8914E82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3A-9A10-4A47-9068-68C147C89D90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373F06D-1DFD-73CA-C392-110FBBFBA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D08692-66CC-5C33-3894-36806C64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026E-91C5-9C4B-992C-85238B1DE4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91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C05F5-0221-3AB6-B88A-F275212A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3EC277-B932-0059-4C09-02F0C011F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12E88E7-15B1-016B-7195-D9034671E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907FB0-4010-A2B3-A795-E04B4E83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3A-9A10-4A47-9068-68C147C89D90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E7FBAC-1424-7F34-9D2C-5D7DDFA0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5477EC-3271-499A-4602-A121238F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026E-91C5-9C4B-992C-85238B1DE4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8209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CB28E-359D-BAFD-3F38-D9F622DD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F261A36-C7FD-5301-30B7-FE43CFB0E8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CB7A46-2B2E-C019-B140-BD36C8EE3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9179E-2D2D-55B4-1ACF-AE67DD673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3A-9A10-4A47-9068-68C147C89D90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B0DE8C-82DF-924F-A347-9D1A8DBFC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85A8D2-0E1D-D0E6-DCDB-74B88FE3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026E-91C5-9C4B-992C-85238B1DE4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362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D4215-488C-59A5-79A6-5C7EA931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8D25A96-7A98-07FB-233B-304720442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CB3CED-3AC3-B354-075E-2D1A3BE4B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3A-9A10-4A47-9068-68C147C89D90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3E3A9A-AFAD-219E-7A2C-CF35F49C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DD589D-033B-356E-E335-0A4942902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026E-91C5-9C4B-992C-85238B1DE4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863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35182A-2BB3-DFE6-7B70-CC5FAD57A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8784AB-6AAE-50D4-694B-A225E6507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9AB8C7-EBC2-EDBB-21F3-9CC4B3EE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3A-9A10-4A47-9068-68C147C89D90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746677-BC05-EA43-6358-624D4391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7AF3F3-2DAF-B7AF-DA0A-48A370D6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026E-91C5-9C4B-992C-85238B1DE4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808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7003962-49F9-78AE-29FE-90E8B20FC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478D54-3C2B-876C-334C-F580D5833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62C148-CB0C-10C6-A0CF-28CA851F9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B4B26-A9C7-4258-AE85-6706C06F1E12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760B67-ABD9-7E0B-DE1E-303047C45B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0E8161-4442-5155-728D-53D6B002F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D04512-00C0-43FF-9F2F-0037846497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920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2ACBC32-D39B-6C49-4E70-874F337C0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1A9D2C-6584-6D5E-070B-13D85F6FA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9152EF-7FA5-BE91-939C-9B07F53DB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59D3A-9A10-4A47-9068-68C147C89D90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599523-E10C-66D9-CC14-5A1912709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B1C2A9-0493-58DB-9C84-2FC8CE982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9026E-91C5-9C4B-992C-85238B1DE4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399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2B0285D6-1958-7E69-FEFC-A4F25B1414EE}"/>
              </a:ext>
            </a:extLst>
          </p:cNvPr>
          <p:cNvSpPr/>
          <p:nvPr/>
        </p:nvSpPr>
        <p:spPr>
          <a:xfrm>
            <a:off x="3249168" y="1143000"/>
            <a:ext cx="3545532" cy="3545533"/>
          </a:xfrm>
          <a:prstGeom prst="ellipse">
            <a:avLst/>
          </a:prstGeom>
          <a:solidFill>
            <a:schemeClr val="accent3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12F0E744-D0D5-F3A9-A802-1514EEDF6D24}"/>
              </a:ext>
            </a:extLst>
          </p:cNvPr>
          <p:cNvSpPr/>
          <p:nvPr/>
        </p:nvSpPr>
        <p:spPr>
          <a:xfrm>
            <a:off x="5397300" y="1143000"/>
            <a:ext cx="3545532" cy="3545533"/>
          </a:xfrm>
          <a:prstGeom prst="ellipse">
            <a:avLst/>
          </a:prstGeom>
          <a:solidFill>
            <a:schemeClr val="accent2">
              <a:lumMod val="7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3DD3F89-A611-AE8D-D787-4F6D80D36759}"/>
              </a:ext>
            </a:extLst>
          </p:cNvPr>
          <p:cNvSpPr/>
          <p:nvPr/>
        </p:nvSpPr>
        <p:spPr>
          <a:xfrm>
            <a:off x="4323234" y="3060709"/>
            <a:ext cx="3545532" cy="3545533"/>
          </a:xfrm>
          <a:prstGeom prst="ellipse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3BDAB4BA-87CF-A13D-290A-6D645F1B8307}"/>
              </a:ext>
            </a:extLst>
          </p:cNvPr>
          <p:cNvSpPr/>
          <p:nvPr/>
        </p:nvSpPr>
        <p:spPr>
          <a:xfrm>
            <a:off x="5419671" y="3060709"/>
            <a:ext cx="1349234" cy="1263327"/>
          </a:xfrm>
          <a:custGeom>
            <a:avLst/>
            <a:gdLst>
              <a:gd name="connsiteX0" fmla="*/ 674546 w 1349234"/>
              <a:gd name="connsiteY0" fmla="*/ 0 h 1263327"/>
              <a:gd name="connsiteX1" fmla="*/ 1201713 w 1349234"/>
              <a:gd name="connsiteY1" fmla="*/ 79700 h 1263327"/>
              <a:gd name="connsiteX2" fmla="*/ 1349234 w 1349234"/>
              <a:gd name="connsiteY2" fmla="*/ 133694 h 1263327"/>
              <a:gd name="connsiteX3" fmla="*/ 1337232 w 1349234"/>
              <a:gd name="connsiteY3" fmla="*/ 212334 h 1263327"/>
              <a:gd name="connsiteX4" fmla="*/ 728126 w 1349234"/>
              <a:gd name="connsiteY4" fmla="*/ 1223012 h 1263327"/>
              <a:gd name="connsiteX5" fmla="*/ 674883 w 1349234"/>
              <a:gd name="connsiteY5" fmla="*/ 1263327 h 1263327"/>
              <a:gd name="connsiteX6" fmla="*/ 620970 w 1349234"/>
              <a:gd name="connsiteY6" fmla="*/ 1223012 h 1263327"/>
              <a:gd name="connsiteX7" fmla="*/ 11864 w 1349234"/>
              <a:gd name="connsiteY7" fmla="*/ 212333 h 1263327"/>
              <a:gd name="connsiteX8" fmla="*/ 0 w 1349234"/>
              <a:gd name="connsiteY8" fmla="*/ 134593 h 1263327"/>
              <a:gd name="connsiteX9" fmla="*/ 65010 w 1349234"/>
              <a:gd name="connsiteY9" fmla="*/ 107571 h 1263327"/>
              <a:gd name="connsiteX10" fmla="*/ 674546 w 1349234"/>
              <a:gd name="connsiteY10" fmla="*/ 0 h 12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9234" h="1263327">
                <a:moveTo>
                  <a:pt x="674546" y="0"/>
                </a:moveTo>
                <a:cubicBezTo>
                  <a:pt x="858122" y="0"/>
                  <a:pt x="1035181" y="27904"/>
                  <a:pt x="1201713" y="79700"/>
                </a:cubicBezTo>
                <a:lnTo>
                  <a:pt x="1349234" y="133694"/>
                </a:lnTo>
                <a:lnTo>
                  <a:pt x="1337232" y="212334"/>
                </a:lnTo>
                <a:cubicBezTo>
                  <a:pt x="1254580" y="616244"/>
                  <a:pt x="1034565" y="970117"/>
                  <a:pt x="728126" y="1223012"/>
                </a:cubicBezTo>
                <a:lnTo>
                  <a:pt x="674883" y="1263327"/>
                </a:lnTo>
                <a:lnTo>
                  <a:pt x="620970" y="1223012"/>
                </a:lnTo>
                <a:cubicBezTo>
                  <a:pt x="314532" y="970117"/>
                  <a:pt x="94516" y="616243"/>
                  <a:pt x="11864" y="212333"/>
                </a:cubicBezTo>
                <a:lnTo>
                  <a:pt x="0" y="134593"/>
                </a:lnTo>
                <a:lnTo>
                  <a:pt x="65010" y="107571"/>
                </a:lnTo>
                <a:cubicBezTo>
                  <a:pt x="255073" y="37980"/>
                  <a:pt x="460374" y="0"/>
                  <a:pt x="674546" y="0"/>
                </a:cubicBezTo>
                <a:close/>
              </a:path>
            </a:pathLst>
          </a:custGeom>
          <a:solidFill>
            <a:srgbClr val="FFA5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5E46B34-B871-0FC7-D9F9-0C999638A53C}"/>
              </a:ext>
            </a:extLst>
          </p:cNvPr>
          <p:cNvSpPr txBox="1"/>
          <p:nvPr/>
        </p:nvSpPr>
        <p:spPr>
          <a:xfrm>
            <a:off x="7063906" y="2289872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>
                <a:latin typeface="Source Sans Pro" panose="020B0503030403020204" pitchFamily="34" charset="0"/>
                <a:ea typeface="Source Sans Pro" panose="020B0503030403020204" pitchFamily="34" charset="0"/>
              </a:rPr>
              <a:t>Matemática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BBDAF8-6C92-4FBD-BF9C-6196ED8BD61B}"/>
              </a:ext>
            </a:extLst>
          </p:cNvPr>
          <p:cNvSpPr txBox="1"/>
          <p:nvPr/>
        </p:nvSpPr>
        <p:spPr>
          <a:xfrm>
            <a:off x="5252660" y="5327380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>
                <a:latin typeface="Source Sans Pro" panose="020B0503030403020204" pitchFamily="34" charset="0"/>
                <a:ea typeface="Source Sans Pro" panose="020B0503030403020204" pitchFamily="34" charset="0"/>
              </a:rPr>
              <a:t>Computação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CE6D463-F4DF-4BE9-853C-3D810606658E}"/>
              </a:ext>
            </a:extLst>
          </p:cNvPr>
          <p:cNvSpPr txBox="1"/>
          <p:nvPr/>
        </p:nvSpPr>
        <p:spPr>
          <a:xfrm>
            <a:off x="3738891" y="2338825"/>
            <a:ext cx="1297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Estatística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D114B05-BEE9-A066-A265-EA8AC9715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732" y="2700212"/>
            <a:ext cx="475488" cy="47548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7248329-C5ED-54D8-9628-E19EDC9A7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5715000"/>
            <a:ext cx="579120" cy="57912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882EECE-22A7-E3FF-F13C-CD4D36C7D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130" y="2722497"/>
            <a:ext cx="579120" cy="579120"/>
          </a:xfrm>
          <a:prstGeom prst="rect">
            <a:avLst/>
          </a:prstGeom>
        </p:spPr>
      </p:pic>
      <p:cxnSp>
        <p:nvCxnSpPr>
          <p:cNvPr id="14" name="Conector Reto 77">
            <a:extLst>
              <a:ext uri="{FF2B5EF4-FFF2-40B4-BE49-F238E27FC236}">
                <a16:creationId xmlns:a16="http://schemas.microsoft.com/office/drawing/2014/main" id="{21DFC9A8-542C-C774-C04A-D9A552546E83}"/>
              </a:ext>
            </a:extLst>
          </p:cNvPr>
          <p:cNvCxnSpPr>
            <a:cxnSpLocks/>
          </p:cNvCxnSpPr>
          <p:nvPr/>
        </p:nvCxnSpPr>
        <p:spPr>
          <a:xfrm>
            <a:off x="499972" y="839100"/>
            <a:ext cx="67055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DF7DE193-9ABD-BE62-9F74-257FCCE2CEF6}"/>
              </a:ext>
            </a:extLst>
          </p:cNvPr>
          <p:cNvGrpSpPr/>
          <p:nvPr/>
        </p:nvGrpSpPr>
        <p:grpSpPr>
          <a:xfrm>
            <a:off x="5727535" y="3060709"/>
            <a:ext cx="733506" cy="1207182"/>
            <a:chOff x="1713912" y="3684467"/>
            <a:chExt cx="733506" cy="1207182"/>
          </a:xfrm>
        </p:grpSpPr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1B069EBD-C8B7-BAB3-2BD2-9589369F3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13912" y="4158143"/>
              <a:ext cx="733506" cy="733506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338F16D0-8CB4-9425-1296-E8A039BC7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15013" t="15485" r="21320" b="14636"/>
            <a:stretch>
              <a:fillRect/>
            </a:stretch>
          </p:blipFill>
          <p:spPr>
            <a:xfrm>
              <a:off x="1809137" y="3684467"/>
              <a:ext cx="508716" cy="6395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4298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A4B4FA0-CC44-DEC3-B550-AC3E3094F5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189"/>
          <a:stretch>
            <a:fillRect/>
          </a:stretch>
        </p:blipFill>
        <p:spPr>
          <a:xfrm>
            <a:off x="746966" y="1747603"/>
            <a:ext cx="10698068" cy="244847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550E680-552A-E410-3C14-54A58F06F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66" y="829898"/>
            <a:ext cx="3524742" cy="66684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2442E84-BD79-FFA4-5E75-1FADE7A4C1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105"/>
          <a:stretch>
            <a:fillRect/>
          </a:stretch>
        </p:blipFill>
        <p:spPr>
          <a:xfrm>
            <a:off x="746966" y="4114799"/>
            <a:ext cx="10698068" cy="46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42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3968E8E-4F4C-CF0C-7638-3C0DE14AB2AD}"/>
              </a:ext>
            </a:extLst>
          </p:cNvPr>
          <p:cNvSpPr txBox="1"/>
          <p:nvPr/>
        </p:nvSpPr>
        <p:spPr>
          <a:xfrm>
            <a:off x="531837" y="2644878"/>
            <a:ext cx="5823243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</a:rPr>
              <a:t>Memorial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687E42A-5DC6-C8D6-86C5-C269C018A27C}"/>
              </a:ext>
            </a:extLst>
          </p:cNvPr>
          <p:cNvSpPr txBox="1"/>
          <p:nvPr/>
        </p:nvSpPr>
        <p:spPr>
          <a:xfrm>
            <a:off x="531836" y="3893089"/>
            <a:ext cx="8182395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Magno Severino</a:t>
            </a:r>
          </a:p>
        </p:txBody>
      </p:sp>
      <p:cxnSp>
        <p:nvCxnSpPr>
          <p:cNvPr id="5" name="Conector Reto 73">
            <a:extLst>
              <a:ext uri="{FF2B5EF4-FFF2-40B4-BE49-F238E27FC236}">
                <a16:creationId xmlns:a16="http://schemas.microsoft.com/office/drawing/2014/main" id="{A227B381-C8C2-0B13-BE33-F3F735EEF525}"/>
              </a:ext>
            </a:extLst>
          </p:cNvPr>
          <p:cNvCxnSpPr>
            <a:cxnSpLocks/>
          </p:cNvCxnSpPr>
          <p:nvPr/>
        </p:nvCxnSpPr>
        <p:spPr>
          <a:xfrm>
            <a:off x="-37525" y="2707971"/>
            <a:ext cx="4527229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77">
            <a:extLst>
              <a:ext uri="{FF2B5EF4-FFF2-40B4-BE49-F238E27FC236}">
                <a16:creationId xmlns:a16="http://schemas.microsoft.com/office/drawing/2014/main" id="{91206AC3-2761-6445-9F3F-FC7C9D5483B6}"/>
              </a:ext>
            </a:extLst>
          </p:cNvPr>
          <p:cNvCxnSpPr>
            <a:cxnSpLocks/>
          </p:cNvCxnSpPr>
          <p:nvPr/>
        </p:nvCxnSpPr>
        <p:spPr>
          <a:xfrm>
            <a:off x="575" y="3744687"/>
            <a:ext cx="4489129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589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1000">
              <a:srgbClr val="002060"/>
            </a:gs>
            <a:gs pos="100000">
              <a:srgbClr val="00297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1AD8A7E3-CC17-0257-C1F1-55E72BFCD4A7}"/>
              </a:ext>
            </a:extLst>
          </p:cNvPr>
          <p:cNvSpPr/>
          <p:nvPr/>
        </p:nvSpPr>
        <p:spPr>
          <a:xfrm>
            <a:off x="3249168" y="1143000"/>
            <a:ext cx="3545532" cy="3545533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31487AD-5CAB-3B70-C47B-033CBF8F0A84}"/>
              </a:ext>
            </a:extLst>
          </p:cNvPr>
          <p:cNvSpPr/>
          <p:nvPr/>
        </p:nvSpPr>
        <p:spPr>
          <a:xfrm>
            <a:off x="5397300" y="1143000"/>
            <a:ext cx="3545532" cy="3545533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3C8F181-0E28-C5DA-1BF7-7FD43F2B6533}"/>
              </a:ext>
            </a:extLst>
          </p:cNvPr>
          <p:cNvSpPr/>
          <p:nvPr/>
        </p:nvSpPr>
        <p:spPr>
          <a:xfrm>
            <a:off x="4323234" y="3060709"/>
            <a:ext cx="3545532" cy="3545533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BA148EDA-C5A0-B158-FCFB-BF10D17E0906}"/>
              </a:ext>
            </a:extLst>
          </p:cNvPr>
          <p:cNvSpPr/>
          <p:nvPr/>
        </p:nvSpPr>
        <p:spPr>
          <a:xfrm>
            <a:off x="5421383" y="3060709"/>
            <a:ext cx="1349234" cy="1263327"/>
          </a:xfrm>
          <a:custGeom>
            <a:avLst/>
            <a:gdLst>
              <a:gd name="connsiteX0" fmla="*/ 674546 w 1349234"/>
              <a:gd name="connsiteY0" fmla="*/ 0 h 1263327"/>
              <a:gd name="connsiteX1" fmla="*/ 1201713 w 1349234"/>
              <a:gd name="connsiteY1" fmla="*/ 79700 h 1263327"/>
              <a:gd name="connsiteX2" fmla="*/ 1349234 w 1349234"/>
              <a:gd name="connsiteY2" fmla="*/ 133694 h 1263327"/>
              <a:gd name="connsiteX3" fmla="*/ 1337232 w 1349234"/>
              <a:gd name="connsiteY3" fmla="*/ 212334 h 1263327"/>
              <a:gd name="connsiteX4" fmla="*/ 728126 w 1349234"/>
              <a:gd name="connsiteY4" fmla="*/ 1223012 h 1263327"/>
              <a:gd name="connsiteX5" fmla="*/ 674883 w 1349234"/>
              <a:gd name="connsiteY5" fmla="*/ 1263327 h 1263327"/>
              <a:gd name="connsiteX6" fmla="*/ 620970 w 1349234"/>
              <a:gd name="connsiteY6" fmla="*/ 1223012 h 1263327"/>
              <a:gd name="connsiteX7" fmla="*/ 11864 w 1349234"/>
              <a:gd name="connsiteY7" fmla="*/ 212333 h 1263327"/>
              <a:gd name="connsiteX8" fmla="*/ 0 w 1349234"/>
              <a:gd name="connsiteY8" fmla="*/ 134593 h 1263327"/>
              <a:gd name="connsiteX9" fmla="*/ 65010 w 1349234"/>
              <a:gd name="connsiteY9" fmla="*/ 107571 h 1263327"/>
              <a:gd name="connsiteX10" fmla="*/ 674546 w 1349234"/>
              <a:gd name="connsiteY10" fmla="*/ 0 h 12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9234" h="1263327">
                <a:moveTo>
                  <a:pt x="674546" y="0"/>
                </a:moveTo>
                <a:cubicBezTo>
                  <a:pt x="858122" y="0"/>
                  <a:pt x="1035181" y="27904"/>
                  <a:pt x="1201713" y="79700"/>
                </a:cubicBezTo>
                <a:lnTo>
                  <a:pt x="1349234" y="133694"/>
                </a:lnTo>
                <a:lnTo>
                  <a:pt x="1337232" y="212334"/>
                </a:lnTo>
                <a:cubicBezTo>
                  <a:pt x="1254580" y="616244"/>
                  <a:pt x="1034565" y="970117"/>
                  <a:pt x="728126" y="1223012"/>
                </a:cubicBezTo>
                <a:lnTo>
                  <a:pt x="674883" y="1263327"/>
                </a:lnTo>
                <a:lnTo>
                  <a:pt x="620970" y="1223012"/>
                </a:lnTo>
                <a:cubicBezTo>
                  <a:pt x="314532" y="970117"/>
                  <a:pt x="94516" y="616243"/>
                  <a:pt x="11864" y="212333"/>
                </a:cubicBezTo>
                <a:lnTo>
                  <a:pt x="0" y="134593"/>
                </a:lnTo>
                <a:lnTo>
                  <a:pt x="65010" y="107571"/>
                </a:lnTo>
                <a:cubicBezTo>
                  <a:pt x="255073" y="37980"/>
                  <a:pt x="460374" y="0"/>
                  <a:pt x="674546" y="0"/>
                </a:cubicBezTo>
                <a:close/>
              </a:path>
            </a:pathLst>
          </a:custGeom>
          <a:solidFill>
            <a:srgbClr val="FFA5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EAB7232-1404-497A-A34B-73816F6CD709}"/>
              </a:ext>
            </a:extLst>
          </p:cNvPr>
          <p:cNvSpPr txBox="1"/>
          <p:nvPr/>
        </p:nvSpPr>
        <p:spPr>
          <a:xfrm>
            <a:off x="7063906" y="2289872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>
                <a:solidFill>
                  <a:schemeClr val="bg1"/>
                </a:solidFill>
                <a:latin typeface="Century Gothic" panose="020B0502020202020204" pitchFamily="34" charset="0"/>
              </a:rPr>
              <a:t>Matemática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498E973-0E21-8BF8-4545-C5D21F88956A}"/>
              </a:ext>
            </a:extLst>
          </p:cNvPr>
          <p:cNvSpPr txBox="1"/>
          <p:nvPr/>
        </p:nvSpPr>
        <p:spPr>
          <a:xfrm>
            <a:off x="5252660" y="532738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>
                <a:solidFill>
                  <a:schemeClr val="bg1"/>
                </a:solidFill>
                <a:latin typeface="Century Gothic" panose="020B0502020202020204" pitchFamily="34" charset="0"/>
              </a:rPr>
              <a:t>Computação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61B064F-A820-7F48-BAF0-1A5AD1E0E6C7}"/>
              </a:ext>
            </a:extLst>
          </p:cNvPr>
          <p:cNvSpPr txBox="1"/>
          <p:nvPr/>
        </p:nvSpPr>
        <p:spPr>
          <a:xfrm>
            <a:off x="3738891" y="2338825"/>
            <a:ext cx="1297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>
                <a:solidFill>
                  <a:schemeClr val="bg1"/>
                </a:solidFill>
                <a:latin typeface="Century Gothic" panose="020B0502020202020204" pitchFamily="34" charset="0"/>
              </a:rPr>
              <a:t>Estatística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0BD4AAA2-455B-58DC-6194-4C0BD2B9975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7586732" y="2700212"/>
            <a:ext cx="475488" cy="47548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BFB0D516-6E76-73F2-F63A-C00249DEEBF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5806440" y="5715000"/>
            <a:ext cx="579120" cy="57912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B8E7F1AC-DE6D-B250-7E2D-B65338EB677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4098130" y="2722497"/>
            <a:ext cx="579120" cy="579120"/>
          </a:xfrm>
          <a:prstGeom prst="rect">
            <a:avLst/>
          </a:prstGeom>
        </p:spPr>
      </p:pic>
      <p:sp>
        <p:nvSpPr>
          <p:cNvPr id="56" name="CaixaDeTexto 55">
            <a:extLst>
              <a:ext uri="{FF2B5EF4-FFF2-40B4-BE49-F238E27FC236}">
                <a16:creationId xmlns:a16="http://schemas.microsoft.com/office/drawing/2014/main" id="{1B9D9897-CA5A-B9CB-48DF-DF2E64C7E3CE}"/>
              </a:ext>
            </a:extLst>
          </p:cNvPr>
          <p:cNvSpPr txBox="1"/>
          <p:nvPr/>
        </p:nvSpPr>
        <p:spPr>
          <a:xfrm>
            <a:off x="424543" y="408213"/>
            <a:ext cx="732042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>
                <a:solidFill>
                  <a:schemeClr val="bg1"/>
                </a:solidFill>
                <a:latin typeface="Century Gothic" panose="020B0502020202020204" pitchFamily="34" charset="0"/>
              </a:rPr>
              <a:t>Minha trajetória acadêmica multidisciplinar</a:t>
            </a:r>
          </a:p>
        </p:txBody>
      </p:sp>
      <p:cxnSp>
        <p:nvCxnSpPr>
          <p:cNvPr id="57" name="Conector Reto 77">
            <a:extLst>
              <a:ext uri="{FF2B5EF4-FFF2-40B4-BE49-F238E27FC236}">
                <a16:creationId xmlns:a16="http://schemas.microsoft.com/office/drawing/2014/main" id="{D7B7ABEB-E7E6-2F54-6540-20045417E4A2}"/>
              </a:ext>
            </a:extLst>
          </p:cNvPr>
          <p:cNvCxnSpPr>
            <a:cxnSpLocks/>
          </p:cNvCxnSpPr>
          <p:nvPr/>
        </p:nvCxnSpPr>
        <p:spPr>
          <a:xfrm>
            <a:off x="499972" y="839100"/>
            <a:ext cx="67055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340148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1000">
              <a:srgbClr val="002060"/>
            </a:gs>
            <a:gs pos="100000">
              <a:srgbClr val="00297A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61256-483A-265F-6369-7D42C380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5">
            <a:extLst>
              <a:ext uri="{FF2B5EF4-FFF2-40B4-BE49-F238E27FC236}">
                <a16:creationId xmlns:a16="http://schemas.microsoft.com/office/drawing/2014/main" id="{F735B95F-3752-FF45-6651-8A8D448F5195}"/>
              </a:ext>
            </a:extLst>
          </p:cNvPr>
          <p:cNvSpPr/>
          <p:nvPr/>
        </p:nvSpPr>
        <p:spPr>
          <a:xfrm>
            <a:off x="5530745" y="3917463"/>
            <a:ext cx="554182" cy="5541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" name="Conector Reto 40">
            <a:extLst>
              <a:ext uri="{FF2B5EF4-FFF2-40B4-BE49-F238E27FC236}">
                <a16:creationId xmlns:a16="http://schemas.microsoft.com/office/drawing/2014/main" id="{88EB92CA-2D80-8DC8-3AE1-55247A29D4E3}"/>
              </a:ext>
            </a:extLst>
          </p:cNvPr>
          <p:cNvCxnSpPr>
            <a:cxnSpLocks/>
          </p:cNvCxnSpPr>
          <p:nvPr/>
        </p:nvCxnSpPr>
        <p:spPr>
          <a:xfrm>
            <a:off x="1429489" y="3226918"/>
            <a:ext cx="0" cy="690545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B28B0EFE-696B-BA97-7D91-7B06C04E1A2F}"/>
              </a:ext>
            </a:extLst>
          </p:cNvPr>
          <p:cNvCxnSpPr>
            <a:cxnSpLocks/>
          </p:cNvCxnSpPr>
          <p:nvPr/>
        </p:nvCxnSpPr>
        <p:spPr>
          <a:xfrm>
            <a:off x="-207390" y="4194554"/>
            <a:ext cx="1256093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3">
            <a:extLst>
              <a:ext uri="{FF2B5EF4-FFF2-40B4-BE49-F238E27FC236}">
                <a16:creationId xmlns:a16="http://schemas.microsoft.com/office/drawing/2014/main" id="{235318BF-E1D3-80F5-8511-97D9EE0598A2}"/>
              </a:ext>
            </a:extLst>
          </p:cNvPr>
          <p:cNvSpPr/>
          <p:nvPr/>
        </p:nvSpPr>
        <p:spPr>
          <a:xfrm>
            <a:off x="1152398" y="3917463"/>
            <a:ext cx="554182" cy="5541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9" name="Conector Reto 12">
            <a:extLst>
              <a:ext uri="{FF2B5EF4-FFF2-40B4-BE49-F238E27FC236}">
                <a16:creationId xmlns:a16="http://schemas.microsoft.com/office/drawing/2014/main" id="{AF5CE1D9-C8D2-80AA-2A23-38F51E3D0D57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4915751" y="4194554"/>
            <a:ext cx="61499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ângulo Arredondado 33">
            <a:extLst>
              <a:ext uri="{FF2B5EF4-FFF2-40B4-BE49-F238E27FC236}">
                <a16:creationId xmlns:a16="http://schemas.microsoft.com/office/drawing/2014/main" id="{54BFCAD8-BFAB-4A2A-DD68-B4C5756305E0}"/>
              </a:ext>
            </a:extLst>
          </p:cNvPr>
          <p:cNvSpPr/>
          <p:nvPr/>
        </p:nvSpPr>
        <p:spPr>
          <a:xfrm>
            <a:off x="276192" y="1941878"/>
            <a:ext cx="2295591" cy="1262742"/>
          </a:xfrm>
          <a:prstGeom prst="roundRect">
            <a:avLst>
              <a:gd name="adj" fmla="val 9313"/>
            </a:avLst>
          </a:prstGeom>
          <a:solidFill>
            <a:schemeClr val="bg1">
              <a:alpha val="2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53A0B37E-C91D-E0FE-832C-049EF71BFD9B}"/>
              </a:ext>
            </a:extLst>
          </p:cNvPr>
          <p:cNvGrpSpPr/>
          <p:nvPr/>
        </p:nvGrpSpPr>
        <p:grpSpPr>
          <a:xfrm>
            <a:off x="1146742" y="3094147"/>
            <a:ext cx="565492" cy="265542"/>
            <a:chOff x="5041922" y="1065851"/>
            <a:chExt cx="565492" cy="265542"/>
          </a:xfrm>
        </p:grpSpPr>
        <p:sp>
          <p:nvSpPr>
            <p:cNvPr id="24" name="Retângulo Arredondado 36">
              <a:extLst>
                <a:ext uri="{FF2B5EF4-FFF2-40B4-BE49-F238E27FC236}">
                  <a16:creationId xmlns:a16="http://schemas.microsoft.com/office/drawing/2014/main" id="{6F54F160-F729-5CDF-E3C3-91A186C06EDC}"/>
                </a:ext>
              </a:extLst>
            </p:cNvPr>
            <p:cNvSpPr/>
            <p:nvPr/>
          </p:nvSpPr>
          <p:spPr>
            <a:xfrm>
              <a:off x="5041922" y="1065851"/>
              <a:ext cx="565492" cy="265542"/>
            </a:xfrm>
            <a:prstGeom prst="roundRect">
              <a:avLst>
                <a:gd name="adj" fmla="val 26809"/>
              </a:avLst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6C9C08E3-4EC2-79F4-4E27-BF6D8D0214DB}"/>
                </a:ext>
              </a:extLst>
            </p:cNvPr>
            <p:cNvSpPr txBox="1"/>
            <p:nvPr/>
          </p:nvSpPr>
          <p:spPr>
            <a:xfrm>
              <a:off x="5075241" y="1067817"/>
              <a:ext cx="498856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2010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67830D8-E1A3-56FE-F727-BD746374D98E}"/>
              </a:ext>
            </a:extLst>
          </p:cNvPr>
          <p:cNvSpPr txBox="1"/>
          <p:nvPr/>
        </p:nvSpPr>
        <p:spPr>
          <a:xfrm>
            <a:off x="246053" y="2066746"/>
            <a:ext cx="238734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E.M. Técnico</a:t>
            </a:r>
            <a:b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</a:b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Informática Industrial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969C8E7-90FC-17A0-FC9F-E24E0989E244}"/>
              </a:ext>
            </a:extLst>
          </p:cNvPr>
          <p:cNvSpPr txBox="1"/>
          <p:nvPr/>
        </p:nvSpPr>
        <p:spPr>
          <a:xfrm>
            <a:off x="562091" y="2658037"/>
            <a:ext cx="173479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CEFET-MG</a:t>
            </a:r>
          </a:p>
        </p:txBody>
      </p:sp>
      <p:sp>
        <p:nvSpPr>
          <p:cNvPr id="32" name="Retângulo Arredondado 57">
            <a:extLst>
              <a:ext uri="{FF2B5EF4-FFF2-40B4-BE49-F238E27FC236}">
                <a16:creationId xmlns:a16="http://schemas.microsoft.com/office/drawing/2014/main" id="{077FBE26-8D54-621F-1018-0DDD98A45767}"/>
              </a:ext>
            </a:extLst>
          </p:cNvPr>
          <p:cNvSpPr/>
          <p:nvPr/>
        </p:nvSpPr>
        <p:spPr>
          <a:xfrm>
            <a:off x="3959352" y="1966831"/>
            <a:ext cx="3547872" cy="1262742"/>
          </a:xfrm>
          <a:prstGeom prst="roundRect">
            <a:avLst>
              <a:gd name="adj" fmla="val 9313"/>
            </a:avLst>
          </a:prstGeom>
          <a:solidFill>
            <a:schemeClr val="bg1">
              <a:alpha val="2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CDAF18D-7469-3508-7617-B75849F68C74}"/>
              </a:ext>
            </a:extLst>
          </p:cNvPr>
          <p:cNvGrpSpPr/>
          <p:nvPr/>
        </p:nvGrpSpPr>
        <p:grpSpPr>
          <a:xfrm>
            <a:off x="5525089" y="3096802"/>
            <a:ext cx="565492" cy="265542"/>
            <a:chOff x="5041922" y="1065851"/>
            <a:chExt cx="565492" cy="265542"/>
          </a:xfrm>
        </p:grpSpPr>
        <p:sp>
          <p:nvSpPr>
            <p:cNvPr id="34" name="Retângulo Arredondado 62">
              <a:extLst>
                <a:ext uri="{FF2B5EF4-FFF2-40B4-BE49-F238E27FC236}">
                  <a16:creationId xmlns:a16="http://schemas.microsoft.com/office/drawing/2014/main" id="{8EBC3C0B-040D-CC5C-8BEA-DFEA1B077E96}"/>
                </a:ext>
              </a:extLst>
            </p:cNvPr>
            <p:cNvSpPr/>
            <p:nvPr/>
          </p:nvSpPr>
          <p:spPr>
            <a:xfrm>
              <a:off x="5041922" y="1065851"/>
              <a:ext cx="565492" cy="265542"/>
            </a:xfrm>
            <a:prstGeom prst="roundRect">
              <a:avLst>
                <a:gd name="adj" fmla="val 26809"/>
              </a:avLst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92484D14-5AD9-FFEB-A312-CC67DDF37036}"/>
                </a:ext>
              </a:extLst>
            </p:cNvPr>
            <p:cNvSpPr txBox="1"/>
            <p:nvPr/>
          </p:nvSpPr>
          <p:spPr>
            <a:xfrm>
              <a:off x="5075241" y="1067817"/>
              <a:ext cx="498856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201</a:t>
              </a:r>
              <a:r>
                <a:rPr lang="pt-BR" sz="1100" b="1">
                  <a:solidFill>
                    <a:prstClr val="black"/>
                  </a:solidFill>
                  <a:latin typeface="Century Gothic" panose="020B0502020202020204" pitchFamily="34" charset="0"/>
                </a:rPr>
                <a:t>6</a:t>
              </a:r>
              <a:endParaRPr kumimoji="0" lang="pt-B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36" name="Conector Reto 59">
            <a:extLst>
              <a:ext uri="{FF2B5EF4-FFF2-40B4-BE49-F238E27FC236}">
                <a16:creationId xmlns:a16="http://schemas.microsoft.com/office/drawing/2014/main" id="{4B55843F-7AC7-7CAF-2E05-B9CE3DF2F0D1}"/>
              </a:ext>
            </a:extLst>
          </p:cNvPr>
          <p:cNvCxnSpPr>
            <a:cxnSpLocks/>
          </p:cNvCxnSpPr>
          <p:nvPr/>
        </p:nvCxnSpPr>
        <p:spPr>
          <a:xfrm>
            <a:off x="5807836" y="3229573"/>
            <a:ext cx="0" cy="690545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8E7A7A5-13A4-F79C-7C3F-203E642AFEAD}"/>
              </a:ext>
            </a:extLst>
          </p:cNvPr>
          <p:cNvSpPr txBox="1"/>
          <p:nvPr/>
        </p:nvSpPr>
        <p:spPr>
          <a:xfrm>
            <a:off x="3922776" y="2041601"/>
            <a:ext cx="3629521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500" b="1">
                <a:solidFill>
                  <a:prstClr val="white"/>
                </a:solidFill>
                <a:latin typeface="Century Gothic" panose="020B0502020202020204" pitchFamily="34" charset="0"/>
              </a:rPr>
              <a:t>Bacharelado em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500" b="1">
                <a:solidFill>
                  <a:prstClr val="white"/>
                </a:solidFill>
                <a:latin typeface="Century Gothic" panose="020B0502020202020204" pitchFamily="34" charset="0"/>
              </a:rPr>
              <a:t>Matemática Computacional – UFMG</a:t>
            </a:r>
            <a:endParaRPr kumimoji="0" lang="pt-BR" sz="15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5C64EEC-2988-6A91-42B5-0B6363C0CB53}"/>
              </a:ext>
            </a:extLst>
          </p:cNvPr>
          <p:cNvSpPr txBox="1"/>
          <p:nvPr/>
        </p:nvSpPr>
        <p:spPr>
          <a:xfrm>
            <a:off x="3959352" y="2556530"/>
            <a:ext cx="354787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Período de intercâmbio na Queen Mary </a:t>
            </a:r>
            <a:r>
              <a:rPr kumimoji="0" lang="pt-BR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University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</a:t>
            </a:r>
            <a:r>
              <a:rPr kumimoji="0" lang="pt-BR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of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London</a:t>
            </a: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69984DC-94BE-6722-EC9D-21768845D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8" y="4004054"/>
            <a:ext cx="381000" cy="381000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546DC563-FD9B-13D7-D9AD-50ED6E668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994" y="3991613"/>
            <a:ext cx="381000" cy="381000"/>
          </a:xfrm>
          <a:prstGeom prst="rect">
            <a:avLst/>
          </a:prstGeom>
        </p:spPr>
      </p:pic>
      <p:cxnSp>
        <p:nvCxnSpPr>
          <p:cNvPr id="61" name="Conector Reto 144">
            <a:extLst>
              <a:ext uri="{FF2B5EF4-FFF2-40B4-BE49-F238E27FC236}">
                <a16:creationId xmlns:a16="http://schemas.microsoft.com/office/drawing/2014/main" id="{E3912217-852D-8E16-AF41-1D56F43CFE39}"/>
              </a:ext>
            </a:extLst>
          </p:cNvPr>
          <p:cNvCxnSpPr>
            <a:cxnSpLocks/>
          </p:cNvCxnSpPr>
          <p:nvPr/>
        </p:nvCxnSpPr>
        <p:spPr>
          <a:xfrm>
            <a:off x="7355607" y="4489716"/>
            <a:ext cx="0" cy="690545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132">
            <a:extLst>
              <a:ext uri="{FF2B5EF4-FFF2-40B4-BE49-F238E27FC236}">
                <a16:creationId xmlns:a16="http://schemas.microsoft.com/office/drawing/2014/main" id="{9D975FFF-4BE2-3DC3-0660-6FEBCD076D3B}"/>
              </a:ext>
            </a:extLst>
          </p:cNvPr>
          <p:cNvSpPr/>
          <p:nvPr/>
        </p:nvSpPr>
        <p:spPr>
          <a:xfrm>
            <a:off x="7078516" y="3935534"/>
            <a:ext cx="554182" cy="5541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Retângulo Arredondado 145">
            <a:extLst>
              <a:ext uri="{FF2B5EF4-FFF2-40B4-BE49-F238E27FC236}">
                <a16:creationId xmlns:a16="http://schemas.microsoft.com/office/drawing/2014/main" id="{D1AD4BF6-2A6A-609C-F47A-425E527DDE40}"/>
              </a:ext>
            </a:extLst>
          </p:cNvPr>
          <p:cNvSpPr/>
          <p:nvPr/>
        </p:nvSpPr>
        <p:spPr>
          <a:xfrm>
            <a:off x="5984009" y="5326694"/>
            <a:ext cx="2702200" cy="1262742"/>
          </a:xfrm>
          <a:prstGeom prst="roundRect">
            <a:avLst>
              <a:gd name="adj" fmla="val 9313"/>
            </a:avLst>
          </a:prstGeom>
          <a:solidFill>
            <a:schemeClr val="bg1">
              <a:alpha val="2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76251384-5F5A-82F5-A3ED-EC36E6C5CEA6}"/>
              </a:ext>
            </a:extLst>
          </p:cNvPr>
          <p:cNvGrpSpPr/>
          <p:nvPr/>
        </p:nvGrpSpPr>
        <p:grpSpPr>
          <a:xfrm>
            <a:off x="7072861" y="5165818"/>
            <a:ext cx="565492" cy="265542"/>
            <a:chOff x="5041922" y="1065851"/>
            <a:chExt cx="565492" cy="265542"/>
          </a:xfrm>
        </p:grpSpPr>
        <p:sp>
          <p:nvSpPr>
            <p:cNvPr id="65" name="Retângulo Arredondado 149">
              <a:extLst>
                <a:ext uri="{FF2B5EF4-FFF2-40B4-BE49-F238E27FC236}">
                  <a16:creationId xmlns:a16="http://schemas.microsoft.com/office/drawing/2014/main" id="{15ABCA79-5D2E-3711-70DD-BB5DA56329A0}"/>
                </a:ext>
              </a:extLst>
            </p:cNvPr>
            <p:cNvSpPr/>
            <p:nvPr/>
          </p:nvSpPr>
          <p:spPr>
            <a:xfrm>
              <a:off x="5041922" y="1065851"/>
              <a:ext cx="565492" cy="265542"/>
            </a:xfrm>
            <a:prstGeom prst="roundRect">
              <a:avLst>
                <a:gd name="adj" fmla="val 26809"/>
              </a:avLst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CaixaDeTexto 65">
              <a:extLst>
                <a:ext uri="{FF2B5EF4-FFF2-40B4-BE49-F238E27FC236}">
                  <a16:creationId xmlns:a16="http://schemas.microsoft.com/office/drawing/2014/main" id="{1E0E8513-DD9B-DBBE-9550-728C2CD7268C}"/>
                </a:ext>
              </a:extLst>
            </p:cNvPr>
            <p:cNvSpPr txBox="1"/>
            <p:nvPr/>
          </p:nvSpPr>
          <p:spPr>
            <a:xfrm>
              <a:off x="5075241" y="1067817"/>
              <a:ext cx="498856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2018</a:t>
              </a:r>
            </a:p>
          </p:txBody>
        </p:sp>
      </p:grp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93318C78-1722-2816-D0CD-5924EFE6A6DF}"/>
              </a:ext>
            </a:extLst>
          </p:cNvPr>
          <p:cNvSpPr txBox="1"/>
          <p:nvPr/>
        </p:nvSpPr>
        <p:spPr>
          <a:xfrm>
            <a:off x="6044689" y="5409727"/>
            <a:ext cx="261854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Mestrado em Estatística – DEST UFMG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ABB58F19-69EB-C36D-B3F3-50B638854BB2}"/>
              </a:ext>
            </a:extLst>
          </p:cNvPr>
          <p:cNvSpPr txBox="1"/>
          <p:nvPr/>
        </p:nvSpPr>
        <p:spPr>
          <a:xfrm>
            <a:off x="5984009" y="5985797"/>
            <a:ext cx="27022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“</a:t>
            </a:r>
            <a:r>
              <a:rPr kumimoji="0" lang="pt-BR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Extending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JAGS for </a:t>
            </a:r>
            <a:r>
              <a:rPr kumimoji="0" lang="pt-BR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spatial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data”</a:t>
            </a:r>
          </a:p>
        </p:txBody>
      </p:sp>
      <p:pic>
        <p:nvPicPr>
          <p:cNvPr id="69" name="Imagem 68">
            <a:extLst>
              <a:ext uri="{FF2B5EF4-FFF2-40B4-BE49-F238E27FC236}">
                <a16:creationId xmlns:a16="http://schemas.microsoft.com/office/drawing/2014/main" id="{C39896B6-1F1A-4E57-7A6A-2EF20A5CC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410" y="3996116"/>
            <a:ext cx="476394" cy="476394"/>
          </a:xfrm>
          <a:prstGeom prst="rect">
            <a:avLst/>
          </a:prstGeom>
        </p:spPr>
      </p:pic>
      <p:sp>
        <p:nvSpPr>
          <p:cNvPr id="80" name="Oval 133">
            <a:extLst>
              <a:ext uri="{FF2B5EF4-FFF2-40B4-BE49-F238E27FC236}">
                <a16:creationId xmlns:a16="http://schemas.microsoft.com/office/drawing/2014/main" id="{3FAAC555-6ED9-7544-06D0-DB9D30294D67}"/>
              </a:ext>
            </a:extLst>
          </p:cNvPr>
          <p:cNvSpPr/>
          <p:nvPr/>
        </p:nvSpPr>
        <p:spPr>
          <a:xfrm>
            <a:off x="11197670" y="3917463"/>
            <a:ext cx="554182" cy="5541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81" name="Conector Reto 134">
            <a:extLst>
              <a:ext uri="{FF2B5EF4-FFF2-40B4-BE49-F238E27FC236}">
                <a16:creationId xmlns:a16="http://schemas.microsoft.com/office/drawing/2014/main" id="{A334E6BE-6893-9CF1-89B7-CAD1E7649761}"/>
              </a:ext>
            </a:extLst>
          </p:cNvPr>
          <p:cNvCxnSpPr>
            <a:cxnSpLocks/>
            <a:endCxn id="80" idx="2"/>
          </p:cNvCxnSpPr>
          <p:nvPr/>
        </p:nvCxnSpPr>
        <p:spPr>
          <a:xfrm>
            <a:off x="10362525" y="4194554"/>
            <a:ext cx="83514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tângulo Arredondado 152">
            <a:extLst>
              <a:ext uri="{FF2B5EF4-FFF2-40B4-BE49-F238E27FC236}">
                <a16:creationId xmlns:a16="http://schemas.microsoft.com/office/drawing/2014/main" id="{FA2E506C-6299-E23F-CB44-FB36A7178323}"/>
              </a:ext>
            </a:extLst>
          </p:cNvPr>
          <p:cNvSpPr/>
          <p:nvPr/>
        </p:nvSpPr>
        <p:spPr>
          <a:xfrm>
            <a:off x="8153060" y="1964663"/>
            <a:ext cx="3769265" cy="1264910"/>
          </a:xfrm>
          <a:prstGeom prst="roundRect">
            <a:avLst>
              <a:gd name="adj" fmla="val 9313"/>
            </a:avLst>
          </a:prstGeom>
          <a:solidFill>
            <a:schemeClr val="bg1">
              <a:alpha val="2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BED55DCE-6C33-22FC-01C1-12F16FF83341}"/>
              </a:ext>
            </a:extLst>
          </p:cNvPr>
          <p:cNvGrpSpPr/>
          <p:nvPr/>
        </p:nvGrpSpPr>
        <p:grpSpPr>
          <a:xfrm>
            <a:off x="11192014" y="3096802"/>
            <a:ext cx="565492" cy="265542"/>
            <a:chOff x="5041922" y="1065851"/>
            <a:chExt cx="565492" cy="265542"/>
          </a:xfrm>
        </p:grpSpPr>
        <p:sp>
          <p:nvSpPr>
            <p:cNvPr id="84" name="Retângulo Arredondado 157">
              <a:extLst>
                <a:ext uri="{FF2B5EF4-FFF2-40B4-BE49-F238E27FC236}">
                  <a16:creationId xmlns:a16="http://schemas.microsoft.com/office/drawing/2014/main" id="{915642DD-66BC-EA46-B14E-B1583A85805D}"/>
                </a:ext>
              </a:extLst>
            </p:cNvPr>
            <p:cNvSpPr/>
            <p:nvPr/>
          </p:nvSpPr>
          <p:spPr>
            <a:xfrm>
              <a:off x="5041922" y="1065851"/>
              <a:ext cx="565492" cy="265542"/>
            </a:xfrm>
            <a:prstGeom prst="roundRect">
              <a:avLst>
                <a:gd name="adj" fmla="val 26809"/>
              </a:avLst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CaixaDeTexto 84">
              <a:extLst>
                <a:ext uri="{FF2B5EF4-FFF2-40B4-BE49-F238E27FC236}">
                  <a16:creationId xmlns:a16="http://schemas.microsoft.com/office/drawing/2014/main" id="{4214F80B-FB3A-80CA-36CD-7CB8E8321C76}"/>
                </a:ext>
              </a:extLst>
            </p:cNvPr>
            <p:cNvSpPr txBox="1"/>
            <p:nvPr/>
          </p:nvSpPr>
          <p:spPr>
            <a:xfrm>
              <a:off x="5075241" y="1067817"/>
              <a:ext cx="498856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2024</a:t>
              </a:r>
            </a:p>
          </p:txBody>
        </p:sp>
      </p:grp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D2DD3DAC-EC16-72B4-D258-CE2DCE1BD9EC}"/>
              </a:ext>
            </a:extLst>
          </p:cNvPr>
          <p:cNvSpPr txBox="1"/>
          <p:nvPr/>
        </p:nvSpPr>
        <p:spPr>
          <a:xfrm>
            <a:off x="8153060" y="2040123"/>
            <a:ext cx="3690033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Doutorado em Probabilidade e Estatística – IME-USP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68C20A2A-89BC-8497-3031-F3791B68038D}"/>
              </a:ext>
            </a:extLst>
          </p:cNvPr>
          <p:cNvSpPr txBox="1"/>
          <p:nvPr/>
        </p:nvSpPr>
        <p:spPr>
          <a:xfrm>
            <a:off x="8055981" y="2573448"/>
            <a:ext cx="394784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“Estimation and model selection for graphical models under mixing conditions”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051B3646-3C54-1896-DB40-F0B7AE3CA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260" y="4025951"/>
            <a:ext cx="381000" cy="381000"/>
          </a:xfrm>
          <a:prstGeom prst="rect">
            <a:avLst/>
          </a:prstGeom>
        </p:spPr>
      </p:pic>
      <p:cxnSp>
        <p:nvCxnSpPr>
          <p:cNvPr id="90" name="Conector Reto 154">
            <a:extLst>
              <a:ext uri="{FF2B5EF4-FFF2-40B4-BE49-F238E27FC236}">
                <a16:creationId xmlns:a16="http://schemas.microsoft.com/office/drawing/2014/main" id="{8B88A853-AABA-9E56-1380-4132F8D5039E}"/>
              </a:ext>
            </a:extLst>
          </p:cNvPr>
          <p:cNvCxnSpPr>
            <a:cxnSpLocks/>
          </p:cNvCxnSpPr>
          <p:nvPr/>
        </p:nvCxnSpPr>
        <p:spPr>
          <a:xfrm>
            <a:off x="11474761" y="3229573"/>
            <a:ext cx="0" cy="690545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E06C282C-9AFC-F199-334D-EF126FBECA5D}"/>
              </a:ext>
            </a:extLst>
          </p:cNvPr>
          <p:cNvSpPr txBox="1"/>
          <p:nvPr/>
        </p:nvSpPr>
        <p:spPr>
          <a:xfrm>
            <a:off x="424543" y="408213"/>
            <a:ext cx="732042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>
                <a:solidFill>
                  <a:schemeClr val="bg1"/>
                </a:solidFill>
                <a:latin typeface="Century Gothic" panose="020B0502020202020204" pitchFamily="34" charset="0"/>
              </a:rPr>
              <a:t>Minha trajetória acadêmica multidisciplinar</a:t>
            </a:r>
          </a:p>
        </p:txBody>
      </p:sp>
      <p:cxnSp>
        <p:nvCxnSpPr>
          <p:cNvPr id="3" name="Conector Reto 77">
            <a:extLst>
              <a:ext uri="{FF2B5EF4-FFF2-40B4-BE49-F238E27FC236}">
                <a16:creationId xmlns:a16="http://schemas.microsoft.com/office/drawing/2014/main" id="{4BB43837-ECDC-2ACC-194D-14A8718EBA6F}"/>
              </a:ext>
            </a:extLst>
          </p:cNvPr>
          <p:cNvCxnSpPr>
            <a:cxnSpLocks/>
          </p:cNvCxnSpPr>
          <p:nvPr/>
        </p:nvCxnSpPr>
        <p:spPr>
          <a:xfrm>
            <a:off x="499972" y="839100"/>
            <a:ext cx="67055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820994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1000">
              <a:srgbClr val="002060"/>
            </a:gs>
            <a:gs pos="100000">
              <a:srgbClr val="00297A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85C428-D2E0-638A-CA9D-332D0CB7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05E798CA-FCFC-C004-BDD3-1E78A8D37909}"/>
              </a:ext>
            </a:extLst>
          </p:cNvPr>
          <p:cNvSpPr txBox="1"/>
          <p:nvPr/>
        </p:nvSpPr>
        <p:spPr>
          <a:xfrm>
            <a:off x="607280" y="994017"/>
            <a:ext cx="10658127" cy="56630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>
                <a:solidFill>
                  <a:schemeClr val="bg1"/>
                </a:solidFill>
              </a:rPr>
              <a:t>Iniciação científica</a:t>
            </a:r>
          </a:p>
          <a:p>
            <a:pPr marL="359410" indent="-285750"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Algoritmos numéricos para busca de autovalores (PET Matemática UFMG)</a:t>
            </a:r>
          </a:p>
          <a:p>
            <a:pPr>
              <a:spcBef>
                <a:spcPts val="1200"/>
              </a:spcBef>
            </a:pPr>
            <a:r>
              <a:rPr lang="pt-BR" sz="2400" b="1">
                <a:solidFill>
                  <a:schemeClr val="bg1"/>
                </a:solidFill>
              </a:rPr>
              <a:t>Mestrado</a:t>
            </a:r>
          </a:p>
          <a:p>
            <a:pPr marL="359410" lvl="1" indent="-285750"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Modelagem Bayesiana hierárquica para dados espaciais</a:t>
            </a:r>
          </a:p>
          <a:p>
            <a:pPr marL="359410" lvl="1" indent="-285750"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Dissertação: </a:t>
            </a:r>
            <a:r>
              <a:rPr lang="pt-BR" i="1" err="1">
                <a:solidFill>
                  <a:schemeClr val="bg1"/>
                </a:solidFill>
              </a:rPr>
              <a:t>Extending</a:t>
            </a:r>
            <a:r>
              <a:rPr lang="pt-BR" i="1">
                <a:solidFill>
                  <a:schemeClr val="bg1"/>
                </a:solidFill>
              </a:rPr>
              <a:t> JAGS for </a:t>
            </a:r>
            <a:r>
              <a:rPr lang="pt-BR" i="1" err="1">
                <a:solidFill>
                  <a:schemeClr val="bg1"/>
                </a:solidFill>
              </a:rPr>
              <a:t>spatial</a:t>
            </a:r>
            <a:r>
              <a:rPr lang="pt-BR" i="1">
                <a:solidFill>
                  <a:schemeClr val="bg1"/>
                </a:solidFill>
              </a:rPr>
              <a:t> data</a:t>
            </a:r>
          </a:p>
          <a:p>
            <a:pPr marL="359410" lvl="1" indent="-285750"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Software JAGS desenvolvido e disponibilizado gratuitamente</a:t>
            </a:r>
          </a:p>
          <a:p>
            <a:pPr marL="359410" lvl="1" indent="-285750"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Finalista no </a:t>
            </a:r>
            <a:r>
              <a:rPr lang="pt-BR" b="1">
                <a:solidFill>
                  <a:schemeClr val="bg1"/>
                </a:solidFill>
              </a:rPr>
              <a:t>Concurso de Melhor Dissertação de Mestrado </a:t>
            </a:r>
            <a:r>
              <a:rPr lang="pt-BR">
                <a:solidFill>
                  <a:schemeClr val="bg1"/>
                </a:solidFill>
              </a:rPr>
              <a:t>– SINAPE 2018</a:t>
            </a:r>
          </a:p>
          <a:p>
            <a:pPr>
              <a:spcBef>
                <a:spcPts val="1200"/>
              </a:spcBef>
            </a:pPr>
            <a:r>
              <a:rPr lang="pt-BR" sz="2400" b="1">
                <a:solidFill>
                  <a:schemeClr val="bg1"/>
                </a:solidFill>
              </a:rPr>
              <a:t>Doutorado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Modelos gráficos para processos estocásticos vetoriais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Tese: </a:t>
            </a:r>
            <a:r>
              <a:rPr lang="en-US" i="1">
                <a:solidFill>
                  <a:schemeClr val="bg1"/>
                </a:solidFill>
              </a:rPr>
              <a:t>Estimation and model selection for graphical models under mixing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Pacote R </a:t>
            </a:r>
            <a:r>
              <a:rPr lang="en-US" i="1" err="1">
                <a:solidFill>
                  <a:schemeClr val="bg1"/>
                </a:solidFill>
              </a:rPr>
              <a:t>MixingGraph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disponibilizado</a:t>
            </a:r>
            <a:endParaRPr lang="pt-BR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Publicações: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Leonardi, F., Lopez‐Rosenfeld, M., Rodriguez, D., </a:t>
            </a:r>
            <a:r>
              <a:rPr lang="pt-BR" b="1">
                <a:solidFill>
                  <a:schemeClr val="bg1"/>
                </a:solidFill>
              </a:rPr>
              <a:t>Severino, M. T. F.</a:t>
            </a:r>
            <a:r>
              <a:rPr lang="pt-BR">
                <a:solidFill>
                  <a:schemeClr val="bg1"/>
                </a:solidFill>
              </a:rPr>
              <a:t>, &amp; Sued, M. (2021). </a:t>
            </a:r>
            <a:r>
              <a:rPr lang="pt-BR" b="1" i="1">
                <a:solidFill>
                  <a:schemeClr val="bg1"/>
                </a:solidFill>
              </a:rPr>
              <a:t>Independent </a:t>
            </a:r>
            <a:r>
              <a:rPr lang="pt-BR" b="1" i="1" err="1">
                <a:solidFill>
                  <a:schemeClr val="bg1"/>
                </a:solidFill>
              </a:rPr>
              <a:t>block</a:t>
            </a:r>
            <a:r>
              <a:rPr lang="pt-BR" b="1" i="1">
                <a:solidFill>
                  <a:schemeClr val="bg1"/>
                </a:solidFill>
              </a:rPr>
              <a:t> </a:t>
            </a:r>
            <a:r>
              <a:rPr lang="pt-BR" b="1" i="1" err="1">
                <a:solidFill>
                  <a:schemeClr val="bg1"/>
                </a:solidFill>
              </a:rPr>
              <a:t>identification</a:t>
            </a:r>
            <a:r>
              <a:rPr lang="pt-BR" b="1" i="1">
                <a:solidFill>
                  <a:schemeClr val="bg1"/>
                </a:solidFill>
              </a:rPr>
              <a:t> in </a:t>
            </a:r>
            <a:r>
              <a:rPr lang="pt-BR" b="1" i="1" err="1">
                <a:solidFill>
                  <a:schemeClr val="bg1"/>
                </a:solidFill>
              </a:rPr>
              <a:t>multivariate</a:t>
            </a:r>
            <a:r>
              <a:rPr lang="pt-BR" b="1" i="1">
                <a:solidFill>
                  <a:schemeClr val="bg1"/>
                </a:solidFill>
              </a:rPr>
              <a:t> time series</a:t>
            </a:r>
            <a:r>
              <a:rPr lang="pt-BR">
                <a:solidFill>
                  <a:schemeClr val="bg1"/>
                </a:solidFill>
              </a:rPr>
              <a:t>. </a:t>
            </a:r>
            <a:r>
              <a:rPr lang="pt-BR" err="1">
                <a:solidFill>
                  <a:schemeClr val="bg1"/>
                </a:solidFill>
              </a:rPr>
              <a:t>Journal</a:t>
            </a:r>
            <a:r>
              <a:rPr lang="pt-BR">
                <a:solidFill>
                  <a:schemeClr val="bg1"/>
                </a:solidFill>
              </a:rPr>
              <a:t> </a:t>
            </a:r>
            <a:r>
              <a:rPr lang="pt-BR" err="1">
                <a:solidFill>
                  <a:schemeClr val="bg1"/>
                </a:solidFill>
              </a:rPr>
              <a:t>of</a:t>
            </a:r>
            <a:r>
              <a:rPr lang="pt-BR">
                <a:solidFill>
                  <a:schemeClr val="bg1"/>
                </a:solidFill>
              </a:rPr>
              <a:t> Time Series </a:t>
            </a:r>
            <a:r>
              <a:rPr lang="pt-BR" err="1">
                <a:solidFill>
                  <a:schemeClr val="bg1"/>
                </a:solidFill>
              </a:rPr>
              <a:t>Analysis</a:t>
            </a:r>
            <a:r>
              <a:rPr lang="pt-BR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(Q2 - Statistics and Probability, </a:t>
            </a:r>
            <a:r>
              <a:rPr lang="en-US" err="1">
                <a:solidFill>
                  <a:schemeClr val="bg1"/>
                </a:solidFill>
              </a:rPr>
              <a:t>Scimago</a:t>
            </a:r>
            <a:r>
              <a:rPr lang="en-US">
                <a:solidFill>
                  <a:schemeClr val="bg1"/>
                </a:solidFill>
              </a:rPr>
              <a:t>)</a:t>
            </a:r>
            <a:r>
              <a:rPr lang="pt-BR">
                <a:solidFill>
                  <a:schemeClr val="bg1"/>
                </a:solidFill>
              </a:rPr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Leonardi, F., &amp; </a:t>
            </a:r>
            <a:r>
              <a:rPr lang="en-US" b="1">
                <a:solidFill>
                  <a:schemeClr val="bg1"/>
                </a:solidFill>
              </a:rPr>
              <a:t>Severino, M. T. F. </a:t>
            </a:r>
            <a:r>
              <a:rPr lang="en-US">
                <a:solidFill>
                  <a:schemeClr val="bg1"/>
                </a:solidFill>
              </a:rPr>
              <a:t>(2025). </a:t>
            </a:r>
            <a:r>
              <a:rPr lang="en-US" b="1" i="1">
                <a:solidFill>
                  <a:schemeClr val="bg1"/>
                </a:solidFill>
              </a:rPr>
              <a:t>Model selection for Markov random fields on graphs under a mixing condition</a:t>
            </a:r>
            <a:r>
              <a:rPr lang="en-US">
                <a:solidFill>
                  <a:schemeClr val="bg1"/>
                </a:solidFill>
              </a:rPr>
              <a:t>. Stochastic Processes and their Applications (Q1 - Statistics and Probability, </a:t>
            </a:r>
            <a:r>
              <a:rPr lang="en-US" err="1">
                <a:solidFill>
                  <a:schemeClr val="bg1"/>
                </a:solidFill>
              </a:rPr>
              <a:t>Scimago</a:t>
            </a:r>
            <a:r>
              <a:rPr lang="en-US">
                <a:solidFill>
                  <a:schemeClr val="bg1"/>
                </a:solidFill>
              </a:rPr>
              <a:t>).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20A406-E2E3-BED7-D756-D8EC6EED8F5F}"/>
              </a:ext>
            </a:extLst>
          </p:cNvPr>
          <p:cNvSpPr txBox="1"/>
          <p:nvPr/>
        </p:nvSpPr>
        <p:spPr>
          <a:xfrm>
            <a:off x="424543" y="271053"/>
            <a:ext cx="461194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>
                <a:solidFill>
                  <a:schemeClr val="bg1"/>
                </a:solidFill>
                <a:latin typeface="Century Gothic" panose="020B0502020202020204" pitchFamily="34" charset="0"/>
              </a:rPr>
              <a:t>Pesquisa</a:t>
            </a:r>
          </a:p>
        </p:txBody>
      </p:sp>
      <p:cxnSp>
        <p:nvCxnSpPr>
          <p:cNvPr id="10" name="Conector Reto 77">
            <a:extLst>
              <a:ext uri="{FF2B5EF4-FFF2-40B4-BE49-F238E27FC236}">
                <a16:creationId xmlns:a16="http://schemas.microsoft.com/office/drawing/2014/main" id="{D360B927-4B63-B9D2-D623-FFFA2948346E}"/>
              </a:ext>
            </a:extLst>
          </p:cNvPr>
          <p:cNvCxnSpPr>
            <a:cxnSpLocks/>
          </p:cNvCxnSpPr>
          <p:nvPr/>
        </p:nvCxnSpPr>
        <p:spPr>
          <a:xfrm>
            <a:off x="499972" y="701940"/>
            <a:ext cx="417727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231B4825-3BED-0ECE-927B-1F2FFB3E8EEF}"/>
              </a:ext>
            </a:extLst>
          </p:cNvPr>
          <p:cNvGrpSpPr/>
          <p:nvPr/>
        </p:nvGrpSpPr>
        <p:grpSpPr>
          <a:xfrm>
            <a:off x="8510231" y="3025917"/>
            <a:ext cx="265923" cy="265923"/>
            <a:chOff x="5474969" y="6411088"/>
            <a:chExt cx="265923" cy="265923"/>
          </a:xfrm>
        </p:grpSpPr>
        <p:sp>
          <p:nvSpPr>
            <p:cNvPr id="100" name="Oval 132">
              <a:extLst>
                <a:ext uri="{FF2B5EF4-FFF2-40B4-BE49-F238E27FC236}">
                  <a16:creationId xmlns:a16="http://schemas.microsoft.com/office/drawing/2014/main" id="{E9E8EB0F-A237-FD34-FB28-B026C234D32F}"/>
                </a:ext>
              </a:extLst>
            </p:cNvPr>
            <p:cNvSpPr/>
            <p:nvPr/>
          </p:nvSpPr>
          <p:spPr>
            <a:xfrm>
              <a:off x="5474969" y="6411088"/>
              <a:ext cx="265923" cy="2659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01" name="Imagem 100">
              <a:extLst>
                <a:ext uri="{FF2B5EF4-FFF2-40B4-BE49-F238E27FC236}">
                  <a16:creationId xmlns:a16="http://schemas.microsoft.com/office/drawing/2014/main" id="{1045D6B9-47E6-C13C-DA86-8C522B5B6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99640" y="6432477"/>
              <a:ext cx="218341" cy="2183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2921719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1000">
              <a:srgbClr val="002060"/>
            </a:gs>
            <a:gs pos="100000">
              <a:srgbClr val="00297A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197D9-58A0-7F7A-D1EB-0B59BA28F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144CE38B-30C9-070C-0F58-1177A311783E}"/>
              </a:ext>
            </a:extLst>
          </p:cNvPr>
          <p:cNvSpPr txBox="1"/>
          <p:nvPr/>
        </p:nvSpPr>
        <p:spPr>
          <a:xfrm>
            <a:off x="607280" y="994017"/>
            <a:ext cx="10658127" cy="40804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pt-BR" sz="2400" b="1">
                <a:solidFill>
                  <a:schemeClr val="bg1"/>
                </a:solidFill>
              </a:rPr>
              <a:t>Eventos científicos selecionados</a:t>
            </a:r>
          </a:p>
          <a:p>
            <a:pPr marL="35941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XIV Brazilian Meeting of Bayesian Statistics (EBEB), 2018</a:t>
            </a:r>
          </a:p>
          <a:p>
            <a:pPr marL="35941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Bernoulli-IMS One World Symposium, 2020</a:t>
            </a:r>
            <a:endParaRPr lang="pt-BR">
              <a:solidFill>
                <a:schemeClr val="bg1"/>
              </a:solidFill>
            </a:endParaRPr>
          </a:p>
          <a:p>
            <a:pPr marL="35941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Encontro da Pós-Graduação em Estatística do IME-USP (EPEI), 2021 e 2022 (organização)</a:t>
            </a:r>
          </a:p>
          <a:p>
            <a:pPr marL="35941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63rd ISI World Statistics Congress, 2021</a:t>
            </a:r>
          </a:p>
          <a:p>
            <a:pPr marL="35941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XVI Latin American Congress Of Probability And Mathematical Statistics</a:t>
            </a:r>
          </a:p>
          <a:p>
            <a:pPr marL="35941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XXIV Simpósio Nacional de Probabilidade e Estatística (SINAPE), 2024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3492356-13C6-4EDA-E171-C8E51DE03AC7}"/>
              </a:ext>
            </a:extLst>
          </p:cNvPr>
          <p:cNvSpPr txBox="1"/>
          <p:nvPr/>
        </p:nvSpPr>
        <p:spPr>
          <a:xfrm>
            <a:off x="424543" y="271053"/>
            <a:ext cx="461194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>
                <a:solidFill>
                  <a:schemeClr val="bg1"/>
                </a:solidFill>
                <a:latin typeface="Century Gothic" panose="020B0502020202020204" pitchFamily="34" charset="0"/>
              </a:rPr>
              <a:t>Pesquisa</a:t>
            </a:r>
          </a:p>
        </p:txBody>
      </p:sp>
      <p:cxnSp>
        <p:nvCxnSpPr>
          <p:cNvPr id="13" name="Conector Reto 77">
            <a:extLst>
              <a:ext uri="{FF2B5EF4-FFF2-40B4-BE49-F238E27FC236}">
                <a16:creationId xmlns:a16="http://schemas.microsoft.com/office/drawing/2014/main" id="{DAB64400-4B79-0E05-4D29-5A5064C468DC}"/>
              </a:ext>
            </a:extLst>
          </p:cNvPr>
          <p:cNvCxnSpPr>
            <a:cxnSpLocks/>
          </p:cNvCxnSpPr>
          <p:nvPr/>
        </p:nvCxnSpPr>
        <p:spPr>
          <a:xfrm>
            <a:off x="499972" y="701940"/>
            <a:ext cx="417727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658579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5000">
              <a:srgbClr val="00297A"/>
            </a:gs>
            <a:gs pos="97000">
              <a:srgbClr val="003CB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B573388-7D96-44F8-BFBE-28D23013EDEB}"/>
              </a:ext>
            </a:extLst>
          </p:cNvPr>
          <p:cNvSpPr txBox="1"/>
          <p:nvPr/>
        </p:nvSpPr>
        <p:spPr>
          <a:xfrm>
            <a:off x="424543" y="161325"/>
            <a:ext cx="988074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</a:rPr>
              <a:t>Experiência no Ensino de Estatística e Ciência de Dados</a:t>
            </a:r>
          </a:p>
          <a:p>
            <a:endParaRPr lang="pt-BR" sz="25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3" name="Conector Reto 77">
            <a:extLst>
              <a:ext uri="{FF2B5EF4-FFF2-40B4-BE49-F238E27FC236}">
                <a16:creationId xmlns:a16="http://schemas.microsoft.com/office/drawing/2014/main" id="{D4DD7781-9D5A-B87E-CE50-63A4ECABDF28}"/>
              </a:ext>
            </a:extLst>
          </p:cNvPr>
          <p:cNvCxnSpPr>
            <a:cxnSpLocks/>
          </p:cNvCxnSpPr>
          <p:nvPr/>
        </p:nvCxnSpPr>
        <p:spPr>
          <a:xfrm>
            <a:off x="499972" y="592212"/>
            <a:ext cx="906465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E53BE7-BE0F-3C04-3ACC-67AB65B1ED99}"/>
              </a:ext>
            </a:extLst>
          </p:cNvPr>
          <p:cNvSpPr txBox="1"/>
          <p:nvPr/>
        </p:nvSpPr>
        <p:spPr>
          <a:xfrm>
            <a:off x="583585" y="704285"/>
            <a:ext cx="11282338" cy="42780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bg1"/>
                </a:solidFill>
              </a:rPr>
              <a:t>7 anos como monitor (2017-2023)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bg1"/>
                </a:solidFill>
              </a:rPr>
              <a:t>Graduação</a:t>
            </a:r>
            <a:r>
              <a:rPr lang="pt-BR" sz="1600" dirty="0">
                <a:solidFill>
                  <a:schemeClr val="bg1"/>
                </a:solidFill>
              </a:rPr>
              <a:t>: DEST UFMG, MAE IME USP, Insper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bg1"/>
                </a:solidFill>
              </a:rPr>
              <a:t>Pós-graduação</a:t>
            </a:r>
            <a:r>
              <a:rPr lang="pt-BR" sz="1600" dirty="0">
                <a:solidFill>
                  <a:schemeClr val="bg1"/>
                </a:solidFill>
              </a:rPr>
              <a:t>: MAE IME USP (</a:t>
            </a:r>
            <a:r>
              <a:rPr lang="pt-BR" sz="1600" i="1" dirty="0">
                <a:solidFill>
                  <a:schemeClr val="bg1"/>
                </a:solidFill>
              </a:rPr>
              <a:t>stricto sensu</a:t>
            </a:r>
            <a:r>
              <a:rPr lang="pt-BR" sz="1600" dirty="0">
                <a:solidFill>
                  <a:schemeClr val="bg1"/>
                </a:solidFill>
              </a:rPr>
              <a:t>), Insper (</a:t>
            </a:r>
            <a:r>
              <a:rPr lang="pt-BR" sz="1600" i="1" dirty="0">
                <a:solidFill>
                  <a:schemeClr val="bg1"/>
                </a:solidFill>
              </a:rPr>
              <a:t>lato sensu</a:t>
            </a:r>
            <a:r>
              <a:rPr lang="pt-BR" sz="1600" dirty="0">
                <a:solidFill>
                  <a:schemeClr val="bg1"/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bg1"/>
                </a:solidFill>
              </a:rPr>
              <a:t>Disciplinas selecionadas</a:t>
            </a:r>
            <a:r>
              <a:rPr lang="pt-BR" sz="1600" dirty="0">
                <a:solidFill>
                  <a:schemeClr val="bg1"/>
                </a:solidFill>
              </a:rPr>
              <a:t>: Introdução à Probabilidade e Estatística, Estatística I, Análise Combinatória, Métodos Quantitativos para Tomada de Decisão, Aprendizagem Estatística, Modelagem Preditiva, R e Python para Ciência de Dados, Visualização de Dados.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bg1"/>
                </a:solidFill>
              </a:rPr>
              <a:t>5 anos como docente (2020-atual)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Graduação: IME USP (programa de verão)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Pós-graduação: Insper (</a:t>
            </a:r>
            <a:r>
              <a:rPr lang="pt-BR" sz="1600" i="1" dirty="0">
                <a:solidFill>
                  <a:schemeClr val="bg1"/>
                </a:solidFill>
              </a:rPr>
              <a:t>lato sensu</a:t>
            </a:r>
            <a:r>
              <a:rPr lang="pt-BR" sz="1600" dirty="0">
                <a:solidFill>
                  <a:schemeClr val="bg1"/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Educação Executiva: Insper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bg1"/>
                </a:solidFill>
              </a:rPr>
              <a:t>Disciplinas</a:t>
            </a:r>
            <a:r>
              <a:rPr lang="pt-BR" sz="1600" dirty="0">
                <a:solidFill>
                  <a:schemeClr val="bg1"/>
                </a:solidFill>
              </a:rPr>
              <a:t>: Análise Combinatória, Probabilidade e Aplicações; Aprendizado Estatístico Supervisionado; Aprendizado Estatístico Não-Supervisionado; Visualização de Dados; Transformando Negócios com Dados.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Coorientador de dissertação no Programa de Mestrado Profissional em Economia, Insper (2024)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Título: Previsão de falências corporativas no Brasil: uma abordagem </a:t>
            </a:r>
            <a:r>
              <a:rPr lang="pt-BR" sz="1600" dirty="0" err="1">
                <a:solidFill>
                  <a:schemeClr val="bg1"/>
                </a:solidFill>
              </a:rPr>
              <a:t>multiperíodo</a:t>
            </a:r>
            <a:r>
              <a:rPr lang="pt-BR" sz="1600" dirty="0">
                <a:solidFill>
                  <a:schemeClr val="bg1"/>
                </a:solidFill>
              </a:rPr>
              <a:t> comparando métodos tradicionais e aprendizado de máquina com ênfase nos impactos econômicos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32BAA46-0FEF-ABAA-84BB-8AA1004FA7A9}"/>
              </a:ext>
            </a:extLst>
          </p:cNvPr>
          <p:cNvGrpSpPr/>
          <p:nvPr/>
        </p:nvGrpSpPr>
        <p:grpSpPr>
          <a:xfrm>
            <a:off x="401177" y="5066556"/>
            <a:ext cx="11389647" cy="1718292"/>
            <a:chOff x="401177" y="5066556"/>
            <a:chExt cx="11389647" cy="1718292"/>
          </a:xfrm>
        </p:grpSpPr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id="{FD439025-9A23-A635-56DA-F9079377E217}"/>
                </a:ext>
              </a:extLst>
            </p:cNvPr>
            <p:cNvSpPr/>
            <p:nvPr/>
          </p:nvSpPr>
          <p:spPr>
            <a:xfrm>
              <a:off x="401177" y="5066556"/>
              <a:ext cx="11389647" cy="171829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74109591-CF5F-6609-3CB6-7B398C22C1A0}"/>
                </a:ext>
              </a:extLst>
            </p:cNvPr>
            <p:cNvGrpSpPr/>
            <p:nvPr/>
          </p:nvGrpSpPr>
          <p:grpSpPr>
            <a:xfrm>
              <a:off x="684049" y="5513727"/>
              <a:ext cx="1675103" cy="1141007"/>
              <a:chOff x="9744356" y="408213"/>
              <a:chExt cx="1947672" cy="1152144"/>
            </a:xfrm>
          </p:grpSpPr>
          <p:sp>
            <p:nvSpPr>
              <p:cNvPr id="11" name="Retângulo: Cantos Arredondados 10">
                <a:extLst>
                  <a:ext uri="{FF2B5EF4-FFF2-40B4-BE49-F238E27FC236}">
                    <a16:creationId xmlns:a16="http://schemas.microsoft.com/office/drawing/2014/main" id="{7E50A7BB-5084-4C3B-685C-F8EBE1DD1039}"/>
                  </a:ext>
                </a:extLst>
              </p:cNvPr>
              <p:cNvSpPr/>
              <p:nvPr/>
            </p:nvSpPr>
            <p:spPr>
              <a:xfrm>
                <a:off x="9744356" y="408213"/>
                <a:ext cx="1947672" cy="1152144"/>
              </a:xfrm>
              <a:prstGeom prst="roundRect">
                <a:avLst/>
              </a:prstGeom>
              <a:solidFill>
                <a:srgbClr val="FFA5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40562E3-DC17-2D4C-0B24-1EFC82AAD72D}"/>
                  </a:ext>
                </a:extLst>
              </p:cNvPr>
              <p:cNvSpPr txBox="1"/>
              <p:nvPr/>
            </p:nvSpPr>
            <p:spPr>
              <a:xfrm>
                <a:off x="9744356" y="408213"/>
                <a:ext cx="194767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4000"/>
                  <a:t>1500+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6F8FC86D-4DEF-026B-A7BE-576696BB1ECE}"/>
                  </a:ext>
                </a:extLst>
              </p:cNvPr>
              <p:cNvSpPr txBox="1"/>
              <p:nvPr/>
            </p:nvSpPr>
            <p:spPr>
              <a:xfrm>
                <a:off x="9744356" y="914026"/>
                <a:ext cx="19476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/>
                  <a:t>horas de monitoria</a:t>
                </a:r>
              </a:p>
            </p:txBody>
          </p:sp>
        </p:grpSp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E3EEFD44-A6AF-0C44-88AA-5C822BC78C06}"/>
                </a:ext>
              </a:extLst>
            </p:cNvPr>
            <p:cNvGrpSpPr/>
            <p:nvPr/>
          </p:nvGrpSpPr>
          <p:grpSpPr>
            <a:xfrm>
              <a:off x="2622394" y="5509474"/>
              <a:ext cx="1789126" cy="1141007"/>
              <a:chOff x="9744356" y="1647903"/>
              <a:chExt cx="1947672" cy="1152144"/>
            </a:xfrm>
          </p:grpSpPr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31EDB5CD-6D5A-A2AC-AB8D-8A119FEF2F5C}"/>
                  </a:ext>
                </a:extLst>
              </p:cNvPr>
              <p:cNvSpPr/>
              <p:nvPr/>
            </p:nvSpPr>
            <p:spPr>
              <a:xfrm>
                <a:off x="9744356" y="1647903"/>
                <a:ext cx="1947672" cy="1152144"/>
              </a:xfrm>
              <a:prstGeom prst="roundRect">
                <a:avLst/>
              </a:prstGeom>
              <a:solidFill>
                <a:srgbClr val="FFA5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4DC1EE6F-866D-1D12-4545-CD965A84B9C9}"/>
                  </a:ext>
                </a:extLst>
              </p:cNvPr>
              <p:cNvSpPr txBox="1"/>
              <p:nvPr/>
            </p:nvSpPr>
            <p:spPr>
              <a:xfrm>
                <a:off x="10214688" y="1647903"/>
                <a:ext cx="100700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4000"/>
                  <a:t>568</a:t>
                </a:r>
              </a:p>
            </p:txBody>
          </p:sp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341C26F0-4C6D-F6AF-A553-379204325D2D}"/>
                  </a:ext>
                </a:extLst>
              </p:cNvPr>
              <p:cNvSpPr txBox="1"/>
              <p:nvPr/>
            </p:nvSpPr>
            <p:spPr>
              <a:xfrm>
                <a:off x="9744356" y="2153716"/>
                <a:ext cx="19476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/>
                  <a:t>horas de aulas ministradas</a:t>
                </a:r>
              </a:p>
            </p:txBody>
          </p:sp>
        </p:grpSp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id="{4C77CDF0-7A9F-A2D3-6DB6-35CE8B1E0EB3}"/>
                </a:ext>
              </a:extLst>
            </p:cNvPr>
            <p:cNvGrpSpPr/>
            <p:nvPr/>
          </p:nvGrpSpPr>
          <p:grpSpPr>
            <a:xfrm>
              <a:off x="6463889" y="5481504"/>
              <a:ext cx="1947672" cy="1141007"/>
              <a:chOff x="9773910" y="1588246"/>
              <a:chExt cx="1793318" cy="1152144"/>
            </a:xfrm>
          </p:grpSpPr>
          <p:sp>
            <p:nvSpPr>
              <p:cNvPr id="42" name="Retângulo: Cantos Arredondados 41">
                <a:extLst>
                  <a:ext uri="{FF2B5EF4-FFF2-40B4-BE49-F238E27FC236}">
                    <a16:creationId xmlns:a16="http://schemas.microsoft.com/office/drawing/2014/main" id="{989C7A37-05F4-3BC4-875E-8A505FE3C154}"/>
                  </a:ext>
                </a:extLst>
              </p:cNvPr>
              <p:cNvSpPr/>
              <p:nvPr/>
            </p:nvSpPr>
            <p:spPr>
              <a:xfrm>
                <a:off x="9773910" y="1588246"/>
                <a:ext cx="1793318" cy="1152144"/>
              </a:xfrm>
              <a:prstGeom prst="roundRect">
                <a:avLst/>
              </a:prstGeom>
              <a:solidFill>
                <a:srgbClr val="FFA5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0816A510-2AEB-9F58-7DD3-9A79A593A944}"/>
                  </a:ext>
                </a:extLst>
              </p:cNvPr>
              <p:cNvSpPr txBox="1"/>
              <p:nvPr/>
            </p:nvSpPr>
            <p:spPr>
              <a:xfrm>
                <a:off x="9773910" y="1647902"/>
                <a:ext cx="179331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000" b="1"/>
                  <a:t>Feedback positivo de alunos</a:t>
                </a:r>
              </a:p>
            </p:txBody>
          </p:sp>
        </p:grp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A80EE8BA-1137-9FEA-B75E-613BFA0AF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10070" y="5588244"/>
              <a:ext cx="3078959" cy="925965"/>
            </a:xfrm>
            <a:prstGeom prst="rect">
              <a:avLst/>
            </a:prstGeom>
            <a:ln w="19050">
              <a:solidFill>
                <a:schemeClr val="bg1"/>
              </a:solidFill>
            </a:ln>
          </p:spPr>
        </p:pic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46D23A33-EA71-4DF2-0AAA-B5B9DDBF3C8B}"/>
                </a:ext>
              </a:extLst>
            </p:cNvPr>
            <p:cNvSpPr txBox="1"/>
            <p:nvPr/>
          </p:nvSpPr>
          <p:spPr>
            <a:xfrm>
              <a:off x="583585" y="5093986"/>
              <a:ext cx="6094428" cy="3657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pt-BR" b="1">
                  <a:solidFill>
                    <a:srgbClr val="156082"/>
                  </a:solidFill>
                </a:rPr>
                <a:t>Impacto do Ensino</a:t>
              </a:r>
            </a:p>
          </p:txBody>
        </p:sp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CDD56521-3B00-C120-80FA-FEEC8F98B93C}"/>
                </a:ext>
              </a:extLst>
            </p:cNvPr>
            <p:cNvGrpSpPr/>
            <p:nvPr/>
          </p:nvGrpSpPr>
          <p:grpSpPr>
            <a:xfrm>
              <a:off x="4700737" y="5509473"/>
              <a:ext cx="1473935" cy="1141007"/>
              <a:chOff x="9744356" y="1647903"/>
              <a:chExt cx="1947672" cy="1152144"/>
            </a:xfrm>
          </p:grpSpPr>
          <p:sp>
            <p:nvSpPr>
              <p:cNvPr id="10" name="Retângulo: Cantos Arredondados 9">
                <a:extLst>
                  <a:ext uri="{FF2B5EF4-FFF2-40B4-BE49-F238E27FC236}">
                    <a16:creationId xmlns:a16="http://schemas.microsoft.com/office/drawing/2014/main" id="{9ED41EB8-C2CC-5673-C602-F81EDB85A120}"/>
                  </a:ext>
                </a:extLst>
              </p:cNvPr>
              <p:cNvSpPr/>
              <p:nvPr/>
            </p:nvSpPr>
            <p:spPr>
              <a:xfrm>
                <a:off x="9744356" y="1647903"/>
                <a:ext cx="1947672" cy="1152144"/>
              </a:xfrm>
              <a:prstGeom prst="roundRect">
                <a:avLst/>
              </a:prstGeom>
              <a:solidFill>
                <a:srgbClr val="FFA5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B9C364DC-45B4-B823-8FCD-C4B86B7D01FF}"/>
                  </a:ext>
                </a:extLst>
              </p:cNvPr>
              <p:cNvSpPr txBox="1"/>
              <p:nvPr/>
            </p:nvSpPr>
            <p:spPr>
              <a:xfrm>
                <a:off x="9744356" y="1731002"/>
                <a:ext cx="1947672" cy="714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4000"/>
                  <a:t>900+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0DAD16B8-43DC-B6C6-440C-B226B04C6D07}"/>
                  </a:ext>
                </a:extLst>
              </p:cNvPr>
              <p:cNvSpPr txBox="1"/>
              <p:nvPr/>
            </p:nvSpPr>
            <p:spPr>
              <a:xfrm>
                <a:off x="9744356" y="2236816"/>
                <a:ext cx="1947672" cy="372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/>
                  <a:t>alunos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739367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4000">
              <a:srgbClr val="003CB4"/>
            </a:gs>
            <a:gs pos="3000">
              <a:srgbClr val="6378F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63C128D-6785-1419-8E3E-4598243BB14F}"/>
              </a:ext>
            </a:extLst>
          </p:cNvPr>
          <p:cNvSpPr txBox="1"/>
          <p:nvPr/>
        </p:nvSpPr>
        <p:spPr>
          <a:xfrm>
            <a:off x="424543" y="408213"/>
            <a:ext cx="461194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>
                <a:solidFill>
                  <a:schemeClr val="bg1"/>
                </a:solidFill>
                <a:latin typeface="Century Gothic" panose="020B0502020202020204" pitchFamily="34" charset="0"/>
              </a:rPr>
              <a:t>Extensão Universitária</a:t>
            </a:r>
          </a:p>
        </p:txBody>
      </p:sp>
      <p:cxnSp>
        <p:nvCxnSpPr>
          <p:cNvPr id="3" name="Conector Reto 77">
            <a:extLst>
              <a:ext uri="{FF2B5EF4-FFF2-40B4-BE49-F238E27FC236}">
                <a16:creationId xmlns:a16="http://schemas.microsoft.com/office/drawing/2014/main" id="{3F9F4561-163F-8049-A9E7-0B44E8652AAB}"/>
              </a:ext>
            </a:extLst>
          </p:cNvPr>
          <p:cNvCxnSpPr>
            <a:cxnSpLocks/>
          </p:cNvCxnSpPr>
          <p:nvPr/>
        </p:nvCxnSpPr>
        <p:spPr>
          <a:xfrm>
            <a:off x="499972" y="839100"/>
            <a:ext cx="417727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EEA6ADEF-486C-E16D-1966-D9E7E91E9D63}"/>
              </a:ext>
            </a:extLst>
          </p:cNvPr>
          <p:cNvSpPr txBox="1"/>
          <p:nvPr/>
        </p:nvSpPr>
        <p:spPr>
          <a:xfrm>
            <a:off x="594359" y="2359227"/>
            <a:ext cx="11228831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Divulgação Científica: Tendência de Novos Casos de Covid-19 (2020), USP</a:t>
            </a:r>
          </a:p>
          <a:p>
            <a:r>
              <a:rPr lang="en-US">
                <a:solidFill>
                  <a:schemeClr val="bg1"/>
                </a:solidFill>
              </a:rPr>
              <a:t>   </a:t>
            </a:r>
            <a:r>
              <a:rPr lang="en-US" err="1">
                <a:solidFill>
                  <a:schemeClr val="bg1"/>
                </a:solidFill>
              </a:rPr>
              <a:t>Trabalho</a:t>
            </a:r>
            <a:r>
              <a:rPr lang="en-US">
                <a:solidFill>
                  <a:schemeClr val="bg1"/>
                </a:solidFill>
              </a:rPr>
              <a:t>: Model selection criteria for regression models with splines and the automatic localization of knots</a:t>
            </a:r>
          </a:p>
          <a:p>
            <a:r>
              <a:rPr lang="en-US">
                <a:solidFill>
                  <a:schemeClr val="bg1"/>
                </a:solidFill>
              </a:rPr>
              <a:t>   </a:t>
            </a:r>
            <a:r>
              <a:rPr lang="en-US" err="1">
                <a:solidFill>
                  <a:schemeClr val="bg1"/>
                </a:solidFill>
              </a:rPr>
              <a:t>Autores</a:t>
            </a:r>
            <a:r>
              <a:rPr lang="en-US">
                <a:solidFill>
                  <a:schemeClr val="bg1"/>
                </a:solidFill>
              </a:rPr>
              <a:t>: Sousa, A.R., Severino, M. and Leonardi, F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61964162-817A-B3B0-081C-51ADC04BDA34}"/>
              </a:ext>
            </a:extLst>
          </p:cNvPr>
          <p:cNvGrpSpPr/>
          <p:nvPr/>
        </p:nvGrpSpPr>
        <p:grpSpPr>
          <a:xfrm>
            <a:off x="2030793" y="3374880"/>
            <a:ext cx="3594006" cy="1731920"/>
            <a:chOff x="2693479" y="4801491"/>
            <a:chExt cx="3669427" cy="1803284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D3256864-773D-6C1E-1E6F-91935CADC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93479" y="4801491"/>
              <a:ext cx="3669427" cy="1803284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59AC0B07-9A25-0305-0BC5-B64CF6C2F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37652" y="6285186"/>
              <a:ext cx="1204505" cy="273226"/>
            </a:xfrm>
            <a:prstGeom prst="rect">
              <a:avLst/>
            </a:prstGeom>
          </p:spPr>
        </p:pic>
      </p:grp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EE04C9-7759-DA3B-7CFD-FF8E7F1C73F3}"/>
              </a:ext>
            </a:extLst>
          </p:cNvPr>
          <p:cNvSpPr txBox="1"/>
          <p:nvPr/>
        </p:nvSpPr>
        <p:spPr>
          <a:xfrm>
            <a:off x="567752" y="5324544"/>
            <a:ext cx="112554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Stats4Good (2018), UFMG</a:t>
            </a:r>
          </a:p>
          <a:p>
            <a:r>
              <a:rPr lang="pt-BR">
                <a:solidFill>
                  <a:schemeClr val="bg1"/>
                </a:solidFill>
              </a:rPr>
              <a:t>  Coletar, organizar e analisar dados públicos (blog) disponíveis no portal de transparência do governo federal.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00737C22-EA73-EBD9-FD0D-A1A3E2CCE941}"/>
              </a:ext>
            </a:extLst>
          </p:cNvPr>
          <p:cNvGrpSpPr/>
          <p:nvPr/>
        </p:nvGrpSpPr>
        <p:grpSpPr>
          <a:xfrm>
            <a:off x="6017399" y="3474514"/>
            <a:ext cx="4143808" cy="1307894"/>
            <a:chOff x="6556895" y="3008075"/>
            <a:chExt cx="3567424" cy="1307894"/>
          </a:xfrm>
        </p:grpSpPr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2ED9E7A0-BF79-9545-2FCD-68113AE645B9}"/>
                </a:ext>
              </a:extLst>
            </p:cNvPr>
            <p:cNvSpPr/>
            <p:nvPr/>
          </p:nvSpPr>
          <p:spPr>
            <a:xfrm>
              <a:off x="6556895" y="3008075"/>
              <a:ext cx="3567423" cy="13078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/>
                <a:t>‘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DE5ECDFA-DE3A-4F2B-0CAD-E56E6CD305A6}"/>
                </a:ext>
              </a:extLst>
            </p:cNvPr>
            <p:cNvSpPr txBox="1"/>
            <p:nvPr/>
          </p:nvSpPr>
          <p:spPr>
            <a:xfrm>
              <a:off x="7275738" y="3086720"/>
              <a:ext cx="284858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/>
                <a:t>Prêmio Vídeo Pós-Graduação no combate ao COVID-19</a:t>
              </a:r>
            </a:p>
            <a:p>
              <a:r>
                <a:rPr lang="pt-BR"/>
                <a:t>PRPG-USP</a:t>
              </a:r>
            </a:p>
          </p:txBody>
        </p:sp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8421FFFA-775E-8815-35C7-A47AA454E36B}"/>
                </a:ext>
              </a:extLst>
            </p:cNvPr>
            <p:cNvGrpSpPr/>
            <p:nvPr/>
          </p:nvGrpSpPr>
          <p:grpSpPr>
            <a:xfrm>
              <a:off x="6688836" y="3363207"/>
              <a:ext cx="577891" cy="577893"/>
              <a:chOff x="5474969" y="6411088"/>
              <a:chExt cx="265923" cy="265923"/>
            </a:xfrm>
          </p:grpSpPr>
          <p:sp>
            <p:nvSpPr>
              <p:cNvPr id="17" name="Oval 132">
                <a:extLst>
                  <a:ext uri="{FF2B5EF4-FFF2-40B4-BE49-F238E27FC236}">
                    <a16:creationId xmlns:a16="http://schemas.microsoft.com/office/drawing/2014/main" id="{6A54EA3F-0D9C-DA77-8EA1-A3A0C41385A6}"/>
                  </a:ext>
                </a:extLst>
              </p:cNvPr>
              <p:cNvSpPr/>
              <p:nvPr/>
            </p:nvSpPr>
            <p:spPr>
              <a:xfrm>
                <a:off x="5474969" y="6411088"/>
                <a:ext cx="265923" cy="2659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18" name="Imagem 17">
                <a:extLst>
                  <a:ext uri="{FF2B5EF4-FFF2-40B4-BE49-F238E27FC236}">
                    <a16:creationId xmlns:a16="http://schemas.microsoft.com/office/drawing/2014/main" id="{6EA8B9A4-F12B-C4B8-55EC-A2AE120595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96197" y="6439416"/>
                <a:ext cx="218341" cy="218341"/>
              </a:xfrm>
              <a:prstGeom prst="rect">
                <a:avLst/>
              </a:prstGeom>
            </p:spPr>
          </p:pic>
        </p:grp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90F32C1-C037-C63E-4777-EA5F087A4B55}"/>
              </a:ext>
            </a:extLst>
          </p:cNvPr>
          <p:cNvSpPr txBox="1"/>
          <p:nvPr/>
        </p:nvSpPr>
        <p:spPr>
          <a:xfrm>
            <a:off x="587674" y="1406496"/>
            <a:ext cx="1092462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Curso de Difusão em Aprendizagem Estatística (2021-2022), IME-USP </a:t>
            </a:r>
          </a:p>
          <a:p>
            <a:r>
              <a:rPr lang="pt-BR">
                <a:solidFill>
                  <a:schemeClr val="bg1"/>
                </a:solidFill>
              </a:rPr>
              <a:t>   Atividade de extensão para a comunidade</a:t>
            </a:r>
          </a:p>
        </p:txBody>
      </p:sp>
      <p:cxnSp>
        <p:nvCxnSpPr>
          <p:cNvPr id="37" name="Conector: Angulado 36">
            <a:extLst>
              <a:ext uri="{FF2B5EF4-FFF2-40B4-BE49-F238E27FC236}">
                <a16:creationId xmlns:a16="http://schemas.microsoft.com/office/drawing/2014/main" id="{FDA2EDED-924B-DB15-79B7-D8B429B938D6}"/>
              </a:ext>
            </a:extLst>
          </p:cNvPr>
          <p:cNvCxnSpPr>
            <a:cxnSpLocks/>
          </p:cNvCxnSpPr>
          <p:nvPr/>
        </p:nvCxnSpPr>
        <p:spPr>
          <a:xfrm>
            <a:off x="352425" y="1485900"/>
            <a:ext cx="235248" cy="134034"/>
          </a:xfrm>
          <a:prstGeom prst="bentConnector3">
            <a:avLst>
              <a:gd name="adj1" fmla="val 1413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do 47">
            <a:extLst>
              <a:ext uri="{FF2B5EF4-FFF2-40B4-BE49-F238E27FC236}">
                <a16:creationId xmlns:a16="http://schemas.microsoft.com/office/drawing/2014/main" id="{78197297-4468-15F6-5705-E3E0E2DD459C}"/>
              </a:ext>
            </a:extLst>
          </p:cNvPr>
          <p:cNvCxnSpPr>
            <a:cxnSpLocks/>
          </p:cNvCxnSpPr>
          <p:nvPr/>
        </p:nvCxnSpPr>
        <p:spPr>
          <a:xfrm>
            <a:off x="332504" y="2450795"/>
            <a:ext cx="235248" cy="134034"/>
          </a:xfrm>
          <a:prstGeom prst="bentConnector3">
            <a:avLst>
              <a:gd name="adj1" fmla="val 1413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do 48">
            <a:extLst>
              <a:ext uri="{FF2B5EF4-FFF2-40B4-BE49-F238E27FC236}">
                <a16:creationId xmlns:a16="http://schemas.microsoft.com/office/drawing/2014/main" id="{15FD791D-B9C8-A454-3A9F-B7A4AC248387}"/>
              </a:ext>
            </a:extLst>
          </p:cNvPr>
          <p:cNvCxnSpPr>
            <a:cxnSpLocks/>
          </p:cNvCxnSpPr>
          <p:nvPr/>
        </p:nvCxnSpPr>
        <p:spPr>
          <a:xfrm>
            <a:off x="312583" y="5399938"/>
            <a:ext cx="235248" cy="134034"/>
          </a:xfrm>
          <a:prstGeom prst="bentConnector3">
            <a:avLst>
              <a:gd name="adj1" fmla="val 1413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659432D1-1868-6DD7-5DB9-73F7DB55C146}"/>
              </a:ext>
            </a:extLst>
          </p:cNvPr>
          <p:cNvSpPr txBox="1"/>
          <p:nvPr/>
        </p:nvSpPr>
        <p:spPr>
          <a:xfrm>
            <a:off x="587673" y="6048628"/>
            <a:ext cx="10924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Curso de Nivelamento </a:t>
            </a:r>
            <a:r>
              <a:rPr lang="pt-BR" b="1" err="1">
                <a:solidFill>
                  <a:schemeClr val="bg1"/>
                </a:solidFill>
              </a:rPr>
              <a:t>Pré</a:t>
            </a:r>
            <a:r>
              <a:rPr lang="pt-BR" b="1">
                <a:solidFill>
                  <a:schemeClr val="bg1"/>
                </a:solidFill>
              </a:rPr>
              <a:t>-Cálculo (2012), UFMG</a:t>
            </a:r>
          </a:p>
          <a:p>
            <a:r>
              <a:rPr lang="pt-BR">
                <a:solidFill>
                  <a:schemeClr val="bg1"/>
                </a:solidFill>
              </a:rPr>
              <a:t>   Público alvo: ingressantes dos cursos de ciências exatas da UFMG</a:t>
            </a: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C4DC93B1-34D8-D714-804A-18D598853377}"/>
              </a:ext>
            </a:extLst>
          </p:cNvPr>
          <p:cNvCxnSpPr>
            <a:cxnSpLocks/>
          </p:cNvCxnSpPr>
          <p:nvPr/>
        </p:nvCxnSpPr>
        <p:spPr>
          <a:xfrm>
            <a:off x="306919" y="6126141"/>
            <a:ext cx="235248" cy="134034"/>
          </a:xfrm>
          <a:prstGeom prst="bentConnector3">
            <a:avLst>
              <a:gd name="adj1" fmla="val 1413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70025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25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CB4"/>
            </a:gs>
            <a:gs pos="92000">
              <a:srgbClr val="00297A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53E18-F215-9AE6-FC3F-C905B3CF1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EFB281E-C9C0-9931-7168-FD06C86F8F32}"/>
              </a:ext>
            </a:extLst>
          </p:cNvPr>
          <p:cNvSpPr txBox="1"/>
          <p:nvPr/>
        </p:nvSpPr>
        <p:spPr>
          <a:xfrm>
            <a:off x="424543" y="225333"/>
            <a:ext cx="73112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>
                <a:solidFill>
                  <a:schemeClr val="bg1"/>
                </a:solidFill>
                <a:latin typeface="Century Gothic" panose="020B0502020202020204" pitchFamily="34" charset="0"/>
              </a:rPr>
              <a:t>Experiências no mercado de trabalho</a:t>
            </a:r>
          </a:p>
        </p:txBody>
      </p:sp>
      <p:cxnSp>
        <p:nvCxnSpPr>
          <p:cNvPr id="3" name="Conector Reto 77">
            <a:extLst>
              <a:ext uri="{FF2B5EF4-FFF2-40B4-BE49-F238E27FC236}">
                <a16:creationId xmlns:a16="http://schemas.microsoft.com/office/drawing/2014/main" id="{A5EB487F-A331-C4BB-3979-C6BDC5B8DF62}"/>
              </a:ext>
            </a:extLst>
          </p:cNvPr>
          <p:cNvCxnSpPr>
            <a:cxnSpLocks/>
          </p:cNvCxnSpPr>
          <p:nvPr/>
        </p:nvCxnSpPr>
        <p:spPr>
          <a:xfrm>
            <a:off x="499972" y="656220"/>
            <a:ext cx="594654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C3420B97-229A-B6FE-74BE-88DFF061E4F7}"/>
              </a:ext>
            </a:extLst>
          </p:cNvPr>
          <p:cNvSpPr txBox="1"/>
          <p:nvPr/>
        </p:nvSpPr>
        <p:spPr>
          <a:xfrm>
            <a:off x="499972" y="1042416"/>
            <a:ext cx="10856876" cy="47859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000" b="1">
                <a:solidFill>
                  <a:schemeClr val="bg1"/>
                </a:solidFill>
              </a:rPr>
              <a:t>Pernambucanas Financeira SA </a:t>
            </a:r>
            <a:r>
              <a:rPr lang="pt-BR" sz="2000">
                <a:solidFill>
                  <a:schemeClr val="bg1"/>
                </a:solidFill>
              </a:rPr>
              <a:t>(Mai/2024 – atual)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bg1"/>
                </a:solidFill>
              </a:rPr>
              <a:t>Analista de Modelagem Estatística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bg1"/>
                </a:solidFill>
              </a:rPr>
              <a:t>Desenvolvimento de soluções de aprendizagem estatística para aplicações estratégicas no mercado de crédito, como</a:t>
            </a:r>
          </a:p>
          <a:p>
            <a:pPr marL="742950" lvl="1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bg1"/>
                </a:solidFill>
              </a:rPr>
              <a:t>Prevenção à fraude</a:t>
            </a:r>
          </a:p>
          <a:p>
            <a:pPr marL="742950" lvl="1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bg1"/>
                </a:solidFill>
              </a:rPr>
              <a:t>Oferta de crédito</a:t>
            </a:r>
          </a:p>
          <a:p>
            <a:pPr marL="742950" lvl="1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1000">
              <a:solidFill>
                <a:schemeClr val="bg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pt-BR" sz="2000" b="1">
                <a:solidFill>
                  <a:schemeClr val="bg1"/>
                </a:solidFill>
              </a:rPr>
              <a:t>Insper Instituição de Ensino (</a:t>
            </a:r>
            <a:r>
              <a:rPr lang="pt-BR" sz="2000">
                <a:solidFill>
                  <a:schemeClr val="bg1"/>
                </a:solidFill>
              </a:rPr>
              <a:t>Mar/2021 – atual)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bg1"/>
                </a:solidFill>
              </a:rPr>
              <a:t>Professor de Pós-Graduação </a:t>
            </a:r>
            <a:r>
              <a:rPr lang="pt-BR" sz="1600" i="1">
                <a:solidFill>
                  <a:schemeClr val="bg1"/>
                </a:solidFill>
              </a:rPr>
              <a:t>lato sensu: </a:t>
            </a:r>
            <a:r>
              <a:rPr lang="pt-BR" sz="1600">
                <a:solidFill>
                  <a:schemeClr val="bg1"/>
                </a:solidFill>
              </a:rPr>
              <a:t>Programa Avançado de Data Science e Decisão 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chemeClr val="bg1"/>
                </a:solidFill>
              </a:rPr>
              <a:t>Disciplinas</a:t>
            </a:r>
            <a:r>
              <a:rPr lang="pt-BR" sz="1600">
                <a:solidFill>
                  <a:schemeClr val="bg1"/>
                </a:solidFill>
              </a:rPr>
              <a:t>: Aprendizado Estatístico Supervisionado; Aprendizado Estatístico Não-Supervisionado; Visualização de Dados; Transformando Negócios com Dados</a:t>
            </a:r>
          </a:p>
          <a:p>
            <a:pPr algn="just">
              <a:spcAft>
                <a:spcPts val="600"/>
              </a:spcAft>
            </a:pPr>
            <a:endParaRPr lang="pt-BR" sz="1000">
              <a:solidFill>
                <a:schemeClr val="bg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pt-BR" sz="2000" b="1">
                <a:solidFill>
                  <a:schemeClr val="bg1"/>
                </a:solidFill>
              </a:rPr>
              <a:t>Banco BTG Pactual </a:t>
            </a:r>
            <a:r>
              <a:rPr lang="pt-BR" sz="2000">
                <a:solidFill>
                  <a:schemeClr val="bg1"/>
                </a:solidFill>
              </a:rPr>
              <a:t>(</a:t>
            </a:r>
            <a:r>
              <a:rPr lang="pt-BR" sz="2000" err="1">
                <a:solidFill>
                  <a:schemeClr val="bg1"/>
                </a:solidFill>
              </a:rPr>
              <a:t>Jun</a:t>
            </a:r>
            <a:r>
              <a:rPr lang="pt-BR" sz="2000">
                <a:solidFill>
                  <a:schemeClr val="bg1"/>
                </a:solidFill>
              </a:rPr>
              <a:t>/2022 – Mar/2024)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bg1"/>
                </a:solidFill>
              </a:rPr>
              <a:t>Especialista de Tecnologia da Informação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bg1"/>
                </a:solidFill>
              </a:rPr>
              <a:t>Implementação de modelos de precificação de derivativos para gestão do portfólio de fundos de investimentos 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bg1"/>
                </a:solidFill>
              </a:rPr>
              <a:t>Desenvolvimento de produtos utilizando inteligência artificial generativa (</a:t>
            </a:r>
            <a:r>
              <a:rPr lang="pt-BR" sz="1600" i="1" err="1">
                <a:solidFill>
                  <a:schemeClr val="bg1"/>
                </a:solidFill>
              </a:rPr>
              <a:t>large</a:t>
            </a:r>
            <a:r>
              <a:rPr lang="pt-BR" sz="1600" i="1">
                <a:solidFill>
                  <a:schemeClr val="bg1"/>
                </a:solidFill>
              </a:rPr>
              <a:t> </a:t>
            </a:r>
            <a:r>
              <a:rPr lang="pt-BR" sz="1600" i="1" err="1">
                <a:solidFill>
                  <a:schemeClr val="bg1"/>
                </a:solidFill>
              </a:rPr>
              <a:t>language</a:t>
            </a:r>
            <a:r>
              <a:rPr lang="pt-BR" sz="1600" i="1">
                <a:solidFill>
                  <a:schemeClr val="bg1"/>
                </a:solidFill>
              </a:rPr>
              <a:t> models</a:t>
            </a:r>
            <a:r>
              <a:rPr lang="pt-BR" sz="1600">
                <a:solidFill>
                  <a:schemeClr val="bg1"/>
                </a:solidFill>
              </a:rPr>
              <a:t>, LLM)</a:t>
            </a:r>
          </a:p>
        </p:txBody>
      </p:sp>
    </p:spTree>
    <p:extLst>
      <p:ext uri="{BB962C8B-B14F-4D97-AF65-F5344CB8AC3E}">
        <p14:creationId xmlns:p14="http://schemas.microsoft.com/office/powerpoint/2010/main" val="60344891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CB4"/>
            </a:gs>
            <a:gs pos="92000">
              <a:srgbClr val="00297A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6322E-08FF-E5CA-D2A0-2FD1D899D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4D5142E-2C68-A234-8D18-F4193F7FD00C}"/>
              </a:ext>
            </a:extLst>
          </p:cNvPr>
          <p:cNvSpPr txBox="1"/>
          <p:nvPr/>
        </p:nvSpPr>
        <p:spPr>
          <a:xfrm>
            <a:off x="499972" y="1271016"/>
            <a:ext cx="1085687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>
                <a:solidFill>
                  <a:schemeClr val="bg1"/>
                </a:solidFill>
              </a:rPr>
              <a:t>Representação discente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Vice-presidente do Centro Acadêmico de Matemática Computacional, UFMG (2015)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Colegiado de Pós-Graduação em Estatística, UFMG (2017)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Comissão Coordenadora do Programa de Pós-Graduação em Estatística, IME-USP (2019)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Conselho do Departamento de Estatística, IME-USP (2020)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pt-BR">
              <a:solidFill>
                <a:schemeClr val="bg1"/>
              </a:solidFill>
            </a:endParaRPr>
          </a:p>
          <a:p>
            <a:pPr>
              <a:spcAft>
                <a:spcPts val="1200"/>
              </a:spcAft>
            </a:pPr>
            <a:r>
              <a:rPr lang="pt-BR" b="1">
                <a:solidFill>
                  <a:schemeClr val="bg1"/>
                </a:solidFill>
              </a:rPr>
              <a:t>Trabalho voluntário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Comissão de Recepção da Pós-Graduação, USP (2018-2020). Página: “</a:t>
            </a:r>
            <a:r>
              <a:rPr lang="pt-BR" b="1">
                <a:solidFill>
                  <a:schemeClr val="bg1"/>
                </a:solidFill>
              </a:rPr>
              <a:t>Como estou sobrevivendo ao IME USP?”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Cursinho Preparatório Amorim Lima para o Ensino Médio Técnico (2019)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Tradução do livro R for </a:t>
            </a:r>
            <a:r>
              <a:rPr lang="pt-BR" i="1">
                <a:solidFill>
                  <a:schemeClr val="bg1"/>
                </a:solidFill>
              </a:rPr>
              <a:t>Data Science </a:t>
            </a:r>
            <a:r>
              <a:rPr lang="pt-BR">
                <a:solidFill>
                  <a:schemeClr val="bg1"/>
                </a:solidFill>
              </a:rPr>
              <a:t>de Hadley Wickham para português brasileiro (revisor).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pt-BR">
              <a:solidFill>
                <a:schemeClr val="bg1"/>
              </a:solidFill>
            </a:endParaRPr>
          </a:p>
          <a:p>
            <a:pPr>
              <a:spcAft>
                <a:spcPts val="1200"/>
              </a:spcAft>
            </a:pPr>
            <a:endParaRPr lang="pt-BR">
              <a:solidFill>
                <a:schemeClr val="bg1"/>
              </a:solidFill>
            </a:endParaRPr>
          </a:p>
          <a:p>
            <a:pPr>
              <a:spcAft>
                <a:spcPts val="1200"/>
              </a:spcAft>
            </a:pPr>
            <a:endParaRPr lang="pt-BR" b="1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CED568-D1D4-4B18-60E0-E1C0676E26AC}"/>
              </a:ext>
            </a:extLst>
          </p:cNvPr>
          <p:cNvSpPr txBox="1"/>
          <p:nvPr/>
        </p:nvSpPr>
        <p:spPr>
          <a:xfrm>
            <a:off x="424543" y="584838"/>
            <a:ext cx="73112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>
                <a:solidFill>
                  <a:schemeClr val="bg1"/>
                </a:solidFill>
                <a:latin typeface="Century Gothic" panose="020B0502020202020204" pitchFamily="34" charset="0"/>
              </a:rPr>
              <a:t>Outras atividades</a:t>
            </a:r>
          </a:p>
        </p:txBody>
      </p:sp>
      <p:cxnSp>
        <p:nvCxnSpPr>
          <p:cNvPr id="8" name="Conector Reto 77">
            <a:extLst>
              <a:ext uri="{FF2B5EF4-FFF2-40B4-BE49-F238E27FC236}">
                <a16:creationId xmlns:a16="http://schemas.microsoft.com/office/drawing/2014/main" id="{14F386BD-6058-F81F-044E-A5669525CD01}"/>
              </a:ext>
            </a:extLst>
          </p:cNvPr>
          <p:cNvCxnSpPr>
            <a:cxnSpLocks/>
          </p:cNvCxnSpPr>
          <p:nvPr/>
        </p:nvCxnSpPr>
        <p:spPr>
          <a:xfrm>
            <a:off x="499972" y="1015725"/>
            <a:ext cx="594654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08F813EE-3051-BDED-A0F7-1DAEA550A8FC}"/>
              </a:ext>
            </a:extLst>
          </p:cNvPr>
          <p:cNvSpPr txBox="1"/>
          <p:nvPr/>
        </p:nvSpPr>
        <p:spPr>
          <a:xfrm>
            <a:off x="499972" y="3410063"/>
            <a:ext cx="1085687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pt-BR">
              <a:solidFill>
                <a:schemeClr val="bg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>
              <a:solidFill>
                <a:schemeClr val="bg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endParaRPr lang="pt-BR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endParaRPr lang="pt-BR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64725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CB4"/>
            </a:gs>
            <a:gs pos="92000">
              <a:srgbClr val="00297A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01003-1173-F61D-F067-61BF6EBCB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1DB6EEC-119B-82F1-EA3B-8274D86E06A5}"/>
              </a:ext>
            </a:extLst>
          </p:cNvPr>
          <p:cNvSpPr txBox="1"/>
          <p:nvPr/>
        </p:nvSpPr>
        <p:spPr>
          <a:xfrm>
            <a:off x="499972" y="1271016"/>
            <a:ext cx="10856876" cy="55399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>
                <a:solidFill>
                  <a:schemeClr val="bg1"/>
                </a:solidFill>
              </a:rPr>
              <a:t>Pesquisa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Credenciamento no Programa de Pós-Graduação em Probabilidade e Estatística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Projeto: </a:t>
            </a:r>
            <a:r>
              <a:rPr lang="en-US">
                <a:solidFill>
                  <a:schemeClr val="bg1"/>
                </a:solidFill>
              </a:rPr>
              <a:t>Inference and Model Selection for Continuous and Infinite Markov Random Fields on Graphs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Pós-</a:t>
            </a:r>
            <a:r>
              <a:rPr lang="en-US" err="1">
                <a:solidFill>
                  <a:schemeClr val="bg1"/>
                </a:solidFill>
              </a:rPr>
              <a:t>Doutorado</a:t>
            </a:r>
            <a:r>
              <a:rPr lang="en-US">
                <a:solidFill>
                  <a:schemeClr val="bg1"/>
                </a:solidFill>
              </a:rPr>
              <a:t>: Instituto de </a:t>
            </a:r>
            <a:r>
              <a:rPr lang="en-US" err="1">
                <a:solidFill>
                  <a:schemeClr val="bg1"/>
                </a:solidFill>
              </a:rPr>
              <a:t>Cálculo</a:t>
            </a:r>
            <a:r>
              <a:rPr lang="en-US">
                <a:solidFill>
                  <a:schemeClr val="bg1"/>
                </a:solidFill>
              </a:rPr>
              <a:t>, Universidad de Buenos Aires (Mariela Sued, Daniela Rodriguez)</a:t>
            </a:r>
          </a:p>
          <a:p>
            <a:pPr>
              <a:spcAft>
                <a:spcPts val="1200"/>
              </a:spcAft>
            </a:pPr>
            <a:endParaRPr lang="pt-BR">
              <a:solidFill>
                <a:schemeClr val="bg1"/>
              </a:solidFill>
            </a:endParaRPr>
          </a:p>
          <a:p>
            <a:pPr>
              <a:spcAft>
                <a:spcPts val="1200"/>
              </a:spcAft>
            </a:pPr>
            <a:r>
              <a:rPr lang="pt-BR" b="1">
                <a:solidFill>
                  <a:schemeClr val="bg1"/>
                </a:solidFill>
              </a:rPr>
              <a:t>Ensino e Extensão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Uso de inteligência artificial generativa na educação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Oferta de cursos de difusão/extensão em Estatística e Ciência de Dados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bg1"/>
                </a:solidFill>
              </a:rPr>
              <a:t>Implementação do Programa de Educação Tutorial (PET) Estatística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pt-BR">
              <a:solidFill>
                <a:schemeClr val="bg1"/>
              </a:solidFill>
            </a:endParaRPr>
          </a:p>
          <a:p>
            <a:pPr>
              <a:spcAft>
                <a:spcPts val="1200"/>
              </a:spcAft>
            </a:pPr>
            <a:endParaRPr lang="pt-BR">
              <a:solidFill>
                <a:schemeClr val="bg1"/>
              </a:solidFill>
            </a:endParaRPr>
          </a:p>
          <a:p>
            <a:pPr>
              <a:spcAft>
                <a:spcPts val="1200"/>
              </a:spcAft>
            </a:pPr>
            <a:endParaRPr lang="pt-BR">
              <a:solidFill>
                <a:schemeClr val="bg1"/>
              </a:solidFill>
            </a:endParaRPr>
          </a:p>
          <a:p>
            <a:pPr>
              <a:spcAft>
                <a:spcPts val="1200"/>
              </a:spcAft>
            </a:pPr>
            <a:endParaRPr lang="pt-BR" b="1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3FC9ECC-AC56-4B46-CBF3-C786ADECADD6}"/>
              </a:ext>
            </a:extLst>
          </p:cNvPr>
          <p:cNvSpPr txBox="1"/>
          <p:nvPr/>
        </p:nvSpPr>
        <p:spPr>
          <a:xfrm>
            <a:off x="424543" y="584838"/>
            <a:ext cx="73112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>
                <a:solidFill>
                  <a:schemeClr val="bg1"/>
                </a:solidFill>
                <a:latin typeface="Century Gothic" panose="020B0502020202020204" pitchFamily="34" charset="0"/>
              </a:rPr>
              <a:t>Interesses e Perspectivas Futuras</a:t>
            </a:r>
          </a:p>
        </p:txBody>
      </p:sp>
      <p:cxnSp>
        <p:nvCxnSpPr>
          <p:cNvPr id="8" name="Conector Reto 77">
            <a:extLst>
              <a:ext uri="{FF2B5EF4-FFF2-40B4-BE49-F238E27FC236}">
                <a16:creationId xmlns:a16="http://schemas.microsoft.com/office/drawing/2014/main" id="{283D026A-02DA-19B9-F0DC-9F31F20A9538}"/>
              </a:ext>
            </a:extLst>
          </p:cNvPr>
          <p:cNvCxnSpPr>
            <a:cxnSpLocks/>
          </p:cNvCxnSpPr>
          <p:nvPr/>
        </p:nvCxnSpPr>
        <p:spPr>
          <a:xfrm>
            <a:off x="499972" y="1015725"/>
            <a:ext cx="594654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48511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CB4"/>
            </a:gs>
            <a:gs pos="92000">
              <a:srgbClr val="00297A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E543C-03AA-AF99-1555-D725DE59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D678D51-8710-F495-043C-2F797273B67B}"/>
              </a:ext>
            </a:extLst>
          </p:cNvPr>
          <p:cNvSpPr txBox="1"/>
          <p:nvPr/>
        </p:nvSpPr>
        <p:spPr>
          <a:xfrm>
            <a:off x="4225882" y="4751531"/>
            <a:ext cx="18165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Pesquisa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AD68156-2902-92EC-61AD-E2ED47BE94D0}"/>
              </a:ext>
            </a:extLst>
          </p:cNvPr>
          <p:cNvSpPr txBox="1"/>
          <p:nvPr/>
        </p:nvSpPr>
        <p:spPr>
          <a:xfrm>
            <a:off x="618229" y="2124425"/>
            <a:ext cx="1356462" cy="55399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Ensino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3F56D48-BF8B-9184-923C-CF94A45CE40F}"/>
              </a:ext>
            </a:extLst>
          </p:cNvPr>
          <p:cNvSpPr txBox="1"/>
          <p:nvPr/>
        </p:nvSpPr>
        <p:spPr>
          <a:xfrm>
            <a:off x="9710760" y="2124425"/>
            <a:ext cx="1863011" cy="55399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Extensão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F51AABA-8D72-056B-E316-49EAE19E37AF}"/>
              </a:ext>
            </a:extLst>
          </p:cNvPr>
          <p:cNvSpPr txBox="1"/>
          <p:nvPr/>
        </p:nvSpPr>
        <p:spPr>
          <a:xfrm>
            <a:off x="267005" y="2870972"/>
            <a:ext cx="3640196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 anos de experiencia como monitor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 anos de experiência como professor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568 horas de aulas ministradas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1500 horas de atuação como monitor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500">
                <a:solidFill>
                  <a:prstClr val="white"/>
                </a:solidFill>
                <a:latin typeface="Aptos" panose="02110004020202020204"/>
              </a:rPr>
              <a:t>3 anos como representante discente</a:t>
            </a:r>
            <a:endParaRPr kumimoji="0" lang="pt-BR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8E5F7BD-F09E-DBB5-BAF2-EBAE9ECC0962}"/>
              </a:ext>
            </a:extLst>
          </p:cNvPr>
          <p:cNvSpPr txBox="1"/>
          <p:nvPr/>
        </p:nvSpPr>
        <p:spPr>
          <a:xfrm>
            <a:off x="8307238" y="2756103"/>
            <a:ext cx="38847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Divulgação científica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Prêmio “Vídeo Pós-Graduação no combate ao COVID-19” USP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Cursos de difusão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254BECB-5A0B-91E9-9764-39A4E8F952D4}"/>
              </a:ext>
            </a:extLst>
          </p:cNvPr>
          <p:cNvSpPr txBox="1"/>
          <p:nvPr/>
        </p:nvSpPr>
        <p:spPr>
          <a:xfrm>
            <a:off x="3841675" y="5411975"/>
            <a:ext cx="53344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artigos publicados em revistas científicas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Participação e apresentação de trabalho em 15 eventos nacionais e 4 internacionais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Finalista Prêmio “Melhor Dissertação de Mestrado SINAPE”</a:t>
            </a:r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667F0BF4-CD98-CF66-51AE-44E41FBE2A89}"/>
              </a:ext>
            </a:extLst>
          </p:cNvPr>
          <p:cNvGrpSpPr/>
          <p:nvPr/>
        </p:nvGrpSpPr>
        <p:grpSpPr>
          <a:xfrm>
            <a:off x="3428769" y="84747"/>
            <a:ext cx="5334462" cy="4511431"/>
            <a:chOff x="3428769" y="378042"/>
            <a:chExt cx="5334462" cy="4511431"/>
          </a:xfrm>
        </p:grpSpPr>
        <p:pic>
          <p:nvPicPr>
            <p:cNvPr id="48" name="Imagem 47" descr="Ícone&#10;&#10;Descrição gerada automaticamente">
              <a:extLst>
                <a:ext uri="{FF2B5EF4-FFF2-40B4-BE49-F238E27FC236}">
                  <a16:creationId xmlns:a16="http://schemas.microsoft.com/office/drawing/2014/main" id="{700F0E75-0C14-A230-AA9B-0D67D210A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lum bright="70000" contrast="-70000"/>
            </a:blip>
            <a:stretch>
              <a:fillRect/>
            </a:stretch>
          </p:blipFill>
          <p:spPr>
            <a:xfrm>
              <a:off x="3428769" y="378042"/>
              <a:ext cx="5334462" cy="4511431"/>
            </a:xfrm>
            <a:prstGeom prst="rect">
              <a:avLst/>
            </a:prstGeom>
          </p:spPr>
        </p:pic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7101049E-A392-D220-B1FA-F9A42CF6AE82}"/>
                </a:ext>
              </a:extLst>
            </p:cNvPr>
            <p:cNvSpPr txBox="1"/>
            <p:nvPr/>
          </p:nvSpPr>
          <p:spPr>
            <a:xfrm>
              <a:off x="5212601" y="1021797"/>
              <a:ext cx="1798890" cy="400110"/>
            </a:xfrm>
            <a:prstGeom prst="rect">
              <a:avLst/>
            </a:prstGeom>
            <a:gradFill flip="none" rotWithShape="1">
              <a:gsLst>
                <a:gs pos="0">
                  <a:srgbClr val="003399"/>
                </a:gs>
                <a:gs pos="100000">
                  <a:srgbClr val="003090"/>
                </a:gs>
              </a:gsLst>
              <a:lin ang="0" scaled="1"/>
              <a:tileRect/>
            </a:gradFill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Universidade</a:t>
              </a:r>
            </a:p>
          </p:txBody>
        </p:sp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C90A3221-035C-A332-F00D-63A397979585}"/>
              </a:ext>
            </a:extLst>
          </p:cNvPr>
          <p:cNvGrpSpPr/>
          <p:nvPr/>
        </p:nvGrpSpPr>
        <p:grpSpPr>
          <a:xfrm>
            <a:off x="3428769" y="84747"/>
            <a:ext cx="5334462" cy="4511431"/>
            <a:chOff x="3428769" y="378042"/>
            <a:chExt cx="5334462" cy="4511431"/>
          </a:xfrm>
        </p:grpSpPr>
        <p:grpSp>
          <p:nvGrpSpPr>
            <p:cNvPr id="60" name="Agrupar 59">
              <a:extLst>
                <a:ext uri="{FF2B5EF4-FFF2-40B4-BE49-F238E27FC236}">
                  <a16:creationId xmlns:a16="http://schemas.microsoft.com/office/drawing/2014/main" id="{DE4F1210-8035-D5DC-35E0-8F5C48E2AE88}"/>
                </a:ext>
              </a:extLst>
            </p:cNvPr>
            <p:cNvGrpSpPr/>
            <p:nvPr/>
          </p:nvGrpSpPr>
          <p:grpSpPr>
            <a:xfrm>
              <a:off x="3428769" y="378042"/>
              <a:ext cx="5334462" cy="4511431"/>
              <a:chOff x="3428769" y="378042"/>
              <a:chExt cx="5334462" cy="4511431"/>
            </a:xfrm>
          </p:grpSpPr>
          <p:pic>
            <p:nvPicPr>
              <p:cNvPr id="144" name="Imagem 143" descr="Ícone&#10;&#10;Descrição gerada automaticamente">
                <a:extLst>
                  <a:ext uri="{FF2B5EF4-FFF2-40B4-BE49-F238E27FC236}">
                    <a16:creationId xmlns:a16="http://schemas.microsoft.com/office/drawing/2014/main" id="{6C0CAF5C-E5A8-DA1D-2934-0F98A0BEB2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428769" y="378042"/>
                <a:ext cx="5334462" cy="4511431"/>
              </a:xfrm>
              <a:prstGeom prst="rect">
                <a:avLst/>
              </a:prstGeom>
            </p:spPr>
          </p:pic>
          <p:sp>
            <p:nvSpPr>
              <p:cNvPr id="145" name="Retângulo: Cantos Superiores Recortados 144">
                <a:extLst>
                  <a:ext uri="{FF2B5EF4-FFF2-40B4-BE49-F238E27FC236}">
                    <a16:creationId xmlns:a16="http://schemas.microsoft.com/office/drawing/2014/main" id="{B774E428-891C-193A-CE3D-FFD655A1226D}"/>
                  </a:ext>
                </a:extLst>
              </p:cNvPr>
              <p:cNvSpPr/>
              <p:nvPr/>
            </p:nvSpPr>
            <p:spPr>
              <a:xfrm>
                <a:off x="5310885" y="951544"/>
                <a:ext cx="1463040" cy="561476"/>
              </a:xfrm>
              <a:prstGeom prst="snip2SameRect">
                <a:avLst>
                  <a:gd name="adj1" fmla="val 50000"/>
                  <a:gd name="adj2" fmla="val 0"/>
                </a:avLst>
              </a:prstGeom>
              <a:solidFill>
                <a:srgbClr val="F0F0F0"/>
              </a:solidFill>
              <a:ln>
                <a:solidFill>
                  <a:srgbClr val="F0F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33" name="CaixaDeTexto 132">
              <a:extLst>
                <a:ext uri="{FF2B5EF4-FFF2-40B4-BE49-F238E27FC236}">
                  <a16:creationId xmlns:a16="http://schemas.microsoft.com/office/drawing/2014/main" id="{BBA114AC-367D-2729-ED80-C792B90B48B8}"/>
                </a:ext>
              </a:extLst>
            </p:cNvPr>
            <p:cNvSpPr txBox="1"/>
            <p:nvPr/>
          </p:nvSpPr>
          <p:spPr>
            <a:xfrm>
              <a:off x="4754881" y="1166133"/>
              <a:ext cx="2726636" cy="400110"/>
            </a:xfrm>
            <a:prstGeom prst="rect">
              <a:avLst/>
            </a:prstGeom>
            <a:solidFill>
              <a:srgbClr val="F0F0F0"/>
            </a:solidFill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Universidade</a:t>
              </a:r>
            </a:p>
          </p:txBody>
        </p:sp>
      </p:grp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DDED018A-C6F1-596F-5C3A-62621864DA63}"/>
              </a:ext>
            </a:extLst>
          </p:cNvPr>
          <p:cNvCxnSpPr>
            <a:cxnSpLocks/>
          </p:cNvCxnSpPr>
          <p:nvPr/>
        </p:nvCxnSpPr>
        <p:spPr>
          <a:xfrm rot="5400000">
            <a:off x="3915762" y="3091861"/>
            <a:ext cx="2593678" cy="1766801"/>
          </a:xfrm>
          <a:prstGeom prst="bentConnector3">
            <a:avLst>
              <a:gd name="adj1" fmla="val 100724"/>
            </a:avLst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3E4B8466-B42A-1A28-768B-3142DC38D595}"/>
              </a:ext>
            </a:extLst>
          </p:cNvPr>
          <p:cNvCxnSpPr>
            <a:cxnSpLocks/>
          </p:cNvCxnSpPr>
          <p:nvPr/>
        </p:nvCxnSpPr>
        <p:spPr>
          <a:xfrm flipH="1">
            <a:off x="745436" y="2678423"/>
            <a:ext cx="4009444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7ACCD7FD-4EEA-FB5F-318D-36A582C9801E}"/>
              </a:ext>
            </a:extLst>
          </p:cNvPr>
          <p:cNvCxnSpPr>
            <a:cxnSpLocks/>
          </p:cNvCxnSpPr>
          <p:nvPr/>
        </p:nvCxnSpPr>
        <p:spPr>
          <a:xfrm flipH="1">
            <a:off x="7481516" y="2678423"/>
            <a:ext cx="4009444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55145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2917</TotalTime>
  <Words>1001</Words>
  <Application>Microsoft Office PowerPoint</Application>
  <PresentationFormat>Widescreen</PresentationFormat>
  <Paragraphs>139</Paragraphs>
  <Slides>13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Century Gothic</vt:lpstr>
      <vt:lpstr>Source Sans Pro</vt:lpstr>
      <vt:lpstr>Tema do Office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magno tairone</dc:creator>
  <cp:lastModifiedBy>Magno Tairone Freitas Severino</cp:lastModifiedBy>
  <cp:revision>3</cp:revision>
  <dcterms:created xsi:type="dcterms:W3CDTF">2025-03-30T19:14:37Z</dcterms:created>
  <dcterms:modified xsi:type="dcterms:W3CDTF">2025-11-22T17:51:04Z</dcterms:modified>
</cp:coreProperties>
</file>